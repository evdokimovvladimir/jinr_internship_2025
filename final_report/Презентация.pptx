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62" r:id="rId3"/>
    <p:sldId id="263" r:id="rId4"/>
    <p:sldId id="264" r:id="rId5"/>
    <p:sldId id="265" r:id="rId6"/>
    <p:sldId id="266" r:id="rId7"/>
    <p:sldId id="267" r:id="rId8"/>
    <p:sldId id="268" r:id="rId9"/>
    <p:sldId id="269" r:id="rId10"/>
    <p:sldId id="270" r:id="rId11"/>
    <p:sldId id="271" r:id="rId12"/>
    <p:sldId id="272" r:id="rId13"/>
    <p:sldId id="273" r:id="rId14"/>
    <p:sldId id="274" r:id="rId15"/>
    <p:sldId id="275" r:id="rId16"/>
    <p:sldId id="276" r:id="rId17"/>
    <p:sldId id="279" r:id="rId1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50909"/>
    <a:srgbClr val="D60808"/>
    <a:srgbClr val="921F00"/>
    <a:srgbClr val="701800"/>
    <a:srgbClr val="0E964F"/>
    <a:srgbClr val="4D0397"/>
    <a:srgbClr val="5603A9"/>
    <a:srgbClr val="6F04DA"/>
    <a:srgbClr val="00A4DE"/>
    <a:srgbClr val="00921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Средний стиль 2 — акцент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Средний стиль 2 — акцент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0141" autoAdjust="0"/>
    <p:restoredTop sz="94660"/>
  </p:normalViewPr>
  <p:slideViewPr>
    <p:cSldViewPr snapToGrid="0">
      <p:cViewPr varScale="1">
        <p:scale>
          <a:sx n="111" d="100"/>
          <a:sy n="111" d="100"/>
        </p:scale>
        <p:origin x="870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EC34F5-BDE2-4375-B83B-F49841317258}" type="datetimeFigureOut">
              <a:rPr lang="ru-RU" smtClean="0"/>
              <a:t>28.08.2025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9AC15E-FCD1-4167-800F-1DB8497ABFC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6375410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EC34F5-BDE2-4375-B83B-F49841317258}" type="datetimeFigureOut">
              <a:rPr lang="ru-RU" smtClean="0"/>
              <a:t>28.08.2025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9AC15E-FCD1-4167-800F-1DB8497ABFC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020155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EC34F5-BDE2-4375-B83B-F49841317258}" type="datetimeFigureOut">
              <a:rPr lang="ru-RU" smtClean="0"/>
              <a:t>28.08.2025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9AC15E-FCD1-4167-800F-1DB8497ABFC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209160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EC34F5-BDE2-4375-B83B-F49841317258}" type="datetimeFigureOut">
              <a:rPr lang="ru-RU" smtClean="0"/>
              <a:t>28.08.2025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9AC15E-FCD1-4167-800F-1DB8497ABFC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654305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EC34F5-BDE2-4375-B83B-F49841317258}" type="datetimeFigureOut">
              <a:rPr lang="ru-RU" smtClean="0"/>
              <a:t>28.08.2025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9AC15E-FCD1-4167-800F-1DB8497ABFC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645187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EC34F5-BDE2-4375-B83B-F49841317258}" type="datetimeFigureOut">
              <a:rPr lang="ru-RU" smtClean="0"/>
              <a:t>28.08.2025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9AC15E-FCD1-4167-800F-1DB8497ABFC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440736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EC34F5-BDE2-4375-B83B-F49841317258}" type="datetimeFigureOut">
              <a:rPr lang="ru-RU" smtClean="0"/>
              <a:t>28.08.2025</a:t>
            </a:fld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9AC15E-FCD1-4167-800F-1DB8497ABFC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615947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EC34F5-BDE2-4375-B83B-F49841317258}" type="datetimeFigureOut">
              <a:rPr lang="ru-RU" smtClean="0"/>
              <a:t>28.08.2025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9AC15E-FCD1-4167-800F-1DB8497ABFC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526887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EC34F5-BDE2-4375-B83B-F49841317258}" type="datetimeFigureOut">
              <a:rPr lang="ru-RU" smtClean="0"/>
              <a:t>28.08.2025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9AC15E-FCD1-4167-800F-1DB8497ABFC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9878882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EC34F5-BDE2-4375-B83B-F49841317258}" type="datetimeFigureOut">
              <a:rPr lang="ru-RU" smtClean="0"/>
              <a:t>28.08.2025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9AC15E-FCD1-4167-800F-1DB8497ABFC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6782425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EC34F5-BDE2-4375-B83B-F49841317258}" type="datetimeFigureOut">
              <a:rPr lang="ru-RU" smtClean="0"/>
              <a:t>28.08.2025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9AC15E-FCD1-4167-800F-1DB8497ABFC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3766338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6EC34F5-BDE2-4375-B83B-F49841317258}" type="datetimeFigureOut">
              <a:rPr lang="ru-RU" smtClean="0"/>
              <a:t>28.08.2025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F9AC15E-FCD1-4167-800F-1DB8497ABFC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508336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jpeg"/><Relationship Id="rId5" Type="http://schemas.openxmlformats.org/officeDocument/2006/relationships/image" Target="../media/image7.jpeg"/><Relationship Id="rId4" Type="http://schemas.openxmlformats.org/officeDocument/2006/relationships/image" Target="../media/image6.jpe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jpeg"/><Relationship Id="rId3" Type="http://schemas.openxmlformats.org/officeDocument/2006/relationships/image" Target="../media/image9.png"/><Relationship Id="rId7" Type="http://schemas.openxmlformats.org/officeDocument/2006/relationships/image" Target="../media/image7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jpeg"/><Relationship Id="rId5" Type="http://schemas.openxmlformats.org/officeDocument/2006/relationships/image" Target="../media/image10.jpeg"/><Relationship Id="rId4" Type="http://schemas.openxmlformats.org/officeDocument/2006/relationships/image" Target="../media/image11.png"/><Relationship Id="rId9" Type="http://schemas.openxmlformats.org/officeDocument/2006/relationships/image" Target="../media/image13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7" Type="http://schemas.openxmlformats.org/officeDocument/2006/relationships/image" Target="../media/image8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13" Type="http://schemas.openxmlformats.org/officeDocument/2006/relationships/image" Target="../media/image28.jpeg"/><Relationship Id="rId3" Type="http://schemas.openxmlformats.org/officeDocument/2006/relationships/image" Target="../media/image18.jpeg"/><Relationship Id="rId7" Type="http://schemas.openxmlformats.org/officeDocument/2006/relationships/image" Target="../media/image22.png"/><Relationship Id="rId12" Type="http://schemas.openxmlformats.org/officeDocument/2006/relationships/image" Target="../media/image27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1.png"/><Relationship Id="rId11" Type="http://schemas.openxmlformats.org/officeDocument/2006/relationships/image" Target="../media/image26.jpeg"/><Relationship Id="rId5" Type="http://schemas.openxmlformats.org/officeDocument/2006/relationships/image" Target="../media/image20.png"/><Relationship Id="rId10" Type="http://schemas.openxmlformats.org/officeDocument/2006/relationships/image" Target="../media/image25.jpeg"/><Relationship Id="rId4" Type="http://schemas.openxmlformats.org/officeDocument/2006/relationships/image" Target="../media/image19.png"/><Relationship Id="rId9" Type="http://schemas.openxmlformats.org/officeDocument/2006/relationships/image" Target="../media/image24.jpe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jpeg"/><Relationship Id="rId3" Type="http://schemas.openxmlformats.org/officeDocument/2006/relationships/image" Target="../media/image31.png"/><Relationship Id="rId7" Type="http://schemas.openxmlformats.org/officeDocument/2006/relationships/image" Target="../media/image30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9.jpeg"/><Relationship Id="rId5" Type="http://schemas.openxmlformats.org/officeDocument/2006/relationships/image" Target="../media/image33.png"/><Relationship Id="rId10" Type="http://schemas.openxmlformats.org/officeDocument/2006/relationships/image" Target="../media/image32.jpeg"/><Relationship Id="rId4" Type="http://schemas.openxmlformats.org/officeDocument/2006/relationships/image" Target="../media/image32.png"/><Relationship Id="rId9" Type="http://schemas.openxmlformats.org/officeDocument/2006/relationships/image" Target="../media/image31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0.jpeg"/><Relationship Id="rId5" Type="http://schemas.openxmlformats.org/officeDocument/2006/relationships/image" Target="../media/image36.png"/><Relationship Id="rId4" Type="http://schemas.openxmlformats.org/officeDocument/2006/relationships/image" Target="../media/image3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0.jpeg"/><Relationship Id="rId5" Type="http://schemas.openxmlformats.org/officeDocument/2006/relationships/image" Target="../media/image39.png"/><Relationship Id="rId4" Type="http://schemas.openxmlformats.org/officeDocument/2006/relationships/image" Target="../media/image3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jpe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7" Type="http://schemas.openxmlformats.org/officeDocument/2006/relationships/image" Target="../media/image44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3.png"/><Relationship Id="rId5" Type="http://schemas.openxmlformats.org/officeDocument/2006/relationships/image" Target="../media/image7.jpeg"/><Relationship Id="rId4" Type="http://schemas.openxmlformats.org/officeDocument/2006/relationships/image" Target="../media/image4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2.png"/><Relationship Id="rId5" Type="http://schemas.openxmlformats.org/officeDocument/2006/relationships/image" Target="../media/image36.png"/><Relationship Id="rId4" Type="http://schemas.openxmlformats.org/officeDocument/2006/relationships/image" Target="../media/image46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jpeg"/><Relationship Id="rId4" Type="http://schemas.openxmlformats.org/officeDocument/2006/relationships/image" Target="../media/image48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1.png"/><Relationship Id="rId4" Type="http://schemas.openxmlformats.org/officeDocument/2006/relationships/image" Target="../media/image50.jpe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3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5.jpe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1"/>
          <p:cNvSpPr txBox="1">
            <a:spLocks/>
          </p:cNvSpPr>
          <p:nvPr/>
        </p:nvSpPr>
        <p:spPr>
          <a:xfrm>
            <a:off x="998240" y="2082489"/>
            <a:ext cx="7732401" cy="2331692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r>
              <a:rPr lang="ru-RU" altLang="ru-RU" sz="2800" b="1" dirty="0">
                <a:solidFill>
                  <a:srgbClr val="E5090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Изучение принципов работы планарных кремниевых детекторов и экспериментальные измерения основных статических и динамических параметров детекторов</a:t>
            </a:r>
          </a:p>
        </p:txBody>
      </p:sp>
      <p:sp>
        <p:nvSpPr>
          <p:cNvPr id="4" name="Прямоугольник 3"/>
          <p:cNvSpPr/>
          <p:nvPr/>
        </p:nvSpPr>
        <p:spPr>
          <a:xfrm>
            <a:off x="1057235" y="4402951"/>
            <a:ext cx="6465937" cy="221599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Студент:</a:t>
            </a:r>
          </a:p>
          <a:p>
            <a:r>
              <a:rPr lang="ru-RU" b="1" dirty="0">
                <a:latin typeface="Arial" panose="020B0604020202020204" pitchFamily="34" charset="0"/>
                <a:cs typeface="Arial" panose="020B0604020202020204" pitchFamily="34" charset="0"/>
              </a:rPr>
              <a:t>Евдокимов Владимир Владимирович</a:t>
            </a:r>
          </a:p>
          <a:p>
            <a:r>
              <a:rPr lang="ru-RU" sz="1600" dirty="0">
                <a:latin typeface="Arial" panose="020B0604020202020204" pitchFamily="34" charset="0"/>
                <a:cs typeface="Arial" panose="020B0604020202020204" pitchFamily="34" charset="0"/>
              </a:rPr>
              <a:t>Группа Фт-320013</a:t>
            </a:r>
          </a:p>
          <a:p>
            <a:r>
              <a:rPr lang="ru-RU" sz="1600" dirty="0">
                <a:latin typeface="Arial" panose="020B0604020202020204" pitchFamily="34" charset="0"/>
                <a:cs typeface="Arial" panose="020B0604020202020204" pitchFamily="34" charset="0"/>
              </a:rPr>
              <a:t>Направление подготовки: 14.03.02 Ядерные физика и технологии</a:t>
            </a:r>
            <a:br>
              <a:rPr lang="ru-RU" sz="1600" dirty="0"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ru-RU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Руководитель практики от предприятия:</a:t>
            </a:r>
          </a:p>
          <a:p>
            <a:r>
              <a:rPr lang="ru-RU" b="1" dirty="0">
                <a:latin typeface="Arial" panose="020B0604020202020204" pitchFamily="34" charset="0"/>
                <a:cs typeface="Arial" panose="020B0604020202020204" pitchFamily="34" charset="0"/>
              </a:rPr>
              <a:t>Замятин Николай Иванович</a:t>
            </a:r>
            <a:b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ru-RU" sz="1600" dirty="0">
                <a:latin typeface="Arial" panose="020B0604020202020204" pitchFamily="34" charset="0"/>
                <a:cs typeface="Arial" panose="020B0604020202020204" pitchFamily="34" charset="0"/>
              </a:rPr>
              <a:t>к. т. н., начальник сектора НЭОБМН ЛФВЭ</a:t>
            </a:r>
            <a:endParaRPr lang="ru-RU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7992389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472223B-8629-8204-B7A4-F3A85C13CB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AED442E5-E4B0-F89B-119F-105FC17F00D0}"/>
              </a:ext>
            </a:extLst>
          </p:cNvPr>
          <p:cNvSpPr txBox="1"/>
          <p:nvPr/>
        </p:nvSpPr>
        <p:spPr>
          <a:xfrm>
            <a:off x="2161116" y="89480"/>
            <a:ext cx="8276572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</a:pPr>
            <a:r>
              <a:rPr lang="ru-RU" altLang="ru-RU" sz="3200" b="1" dirty="0">
                <a:solidFill>
                  <a:srgbClr val="E5090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Кремниевые планарные детекторы</a:t>
            </a: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65A0768F-497D-D9CA-CD34-B83E7F7AD9A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41005" y="1777658"/>
            <a:ext cx="6153180" cy="3671612"/>
          </a:xfrm>
          <a:prstGeom prst="rect">
            <a:avLst/>
          </a:prstGeom>
        </p:spPr>
      </p:pic>
      <p:pic>
        <p:nvPicPr>
          <p:cNvPr id="5" name="Рисунок 4" descr="Изображение выглядит как текст, диаграмма, снимок экрана, линия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F27F9B1E-9C52-DD8E-CF41-DF9DD727E6E9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158" t="6315" r="9315" b="5589"/>
          <a:stretch>
            <a:fillRect/>
          </a:stretch>
        </p:blipFill>
        <p:spPr bwMode="auto">
          <a:xfrm>
            <a:off x="297815" y="1523030"/>
            <a:ext cx="5443190" cy="4445971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8EE381F2-5487-6ADA-3D47-228E5B798CE2}"/>
              </a:ext>
            </a:extLst>
          </p:cNvPr>
          <p:cNvSpPr txBox="1"/>
          <p:nvPr/>
        </p:nvSpPr>
        <p:spPr>
          <a:xfrm>
            <a:off x="6816176" y="5449270"/>
            <a:ext cx="122364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800" b="1" dirty="0"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det4</a:t>
            </a:r>
            <a:endParaRPr lang="ru-RU" sz="1800" b="1" dirty="0"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ru-RU" b="1" dirty="0"/>
              <a:t>0,25 см²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70ADCE4-49C8-08C4-D3B6-33BE95C6A7AE}"/>
              </a:ext>
            </a:extLst>
          </p:cNvPr>
          <p:cNvSpPr txBox="1"/>
          <p:nvPr/>
        </p:nvSpPr>
        <p:spPr>
          <a:xfrm>
            <a:off x="2210133" y="5969001"/>
            <a:ext cx="161855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1800" b="1" dirty="0"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Сечение</a:t>
            </a:r>
            <a:endParaRPr lang="ru-RU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2373F22-0C1C-7B13-BEF9-F9D40B6C836E}"/>
              </a:ext>
            </a:extLst>
          </p:cNvPr>
          <p:cNvSpPr txBox="1"/>
          <p:nvPr/>
        </p:nvSpPr>
        <p:spPr>
          <a:xfrm>
            <a:off x="9520900" y="1523030"/>
            <a:ext cx="246981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1800" b="1" dirty="0"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Охранные кольца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52510370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6B83325-93FB-94AA-0D0E-CCB5B89910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B9D56424-C66E-76E4-FE5C-E050DAF29398}"/>
              </a:ext>
            </a:extLst>
          </p:cNvPr>
          <p:cNvSpPr txBox="1"/>
          <p:nvPr/>
        </p:nvSpPr>
        <p:spPr>
          <a:xfrm>
            <a:off x="2161116" y="89480"/>
            <a:ext cx="827657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</a:pPr>
            <a:r>
              <a:rPr lang="ru-RU" altLang="ru-RU" sz="3600" b="1" dirty="0">
                <a:solidFill>
                  <a:srgbClr val="E5090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Детекторы</a:t>
            </a:r>
          </a:p>
        </p:txBody>
      </p:sp>
      <p:pic>
        <p:nvPicPr>
          <p:cNvPr id="7172" name="Рисунок 8" descr="Изображение выглядит как искусство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D0A84670-B573-2F68-A90B-3BACB3D9C25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081" t="14598" r="15717" b="4198"/>
          <a:stretch>
            <a:fillRect/>
          </a:stretch>
        </p:blipFill>
        <p:spPr bwMode="auto">
          <a:xfrm>
            <a:off x="121686" y="1429827"/>
            <a:ext cx="2895893" cy="38739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171" name="Picture 3" descr="Изображение выглядит как кабель, Электрическая проводка, электроника, Электроснабжение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B42BB3DB-2E72-305C-B7CA-A47AA9FD700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075" t="12866" r="9947" b="11156"/>
          <a:stretch>
            <a:fillRect/>
          </a:stretch>
        </p:blipFill>
        <p:spPr bwMode="auto">
          <a:xfrm>
            <a:off x="3139265" y="1429827"/>
            <a:ext cx="2895893" cy="38739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170" name="Рисунок 9" descr="Изображение выглядит как стена, в помещении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37AF6D7F-A7CF-5FF9-2003-C4AC6EC661C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171" t="28210" r="21219" b="17181"/>
          <a:stretch>
            <a:fillRect/>
          </a:stretch>
        </p:blipFill>
        <p:spPr bwMode="auto">
          <a:xfrm>
            <a:off x="6156844" y="1429827"/>
            <a:ext cx="2895893" cy="38739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169" name="Рисунок 7" descr="Изображение выглядит как стена, в помещении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E6F2DAFE-F499-5FB5-FF30-FAA706A4468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922" t="13493" r="10411" b="13841"/>
          <a:stretch>
            <a:fillRect/>
          </a:stretch>
        </p:blipFill>
        <p:spPr bwMode="auto">
          <a:xfrm>
            <a:off x="9174423" y="1407348"/>
            <a:ext cx="2895893" cy="38739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4A654AB9-301D-4B1A-78F6-6885DB0431C6}"/>
              </a:ext>
            </a:extLst>
          </p:cNvPr>
          <p:cNvSpPr txBox="1"/>
          <p:nvPr/>
        </p:nvSpPr>
        <p:spPr>
          <a:xfrm>
            <a:off x="898933" y="5303802"/>
            <a:ext cx="1341398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000" b="1" dirty="0"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det1</a:t>
            </a:r>
            <a:endParaRPr lang="ru-RU" sz="2000" b="1" dirty="0"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ru-RU" sz="2000" b="1" dirty="0"/>
              <a:t>5 см²</a:t>
            </a:r>
            <a:endParaRPr lang="en-US" sz="2000" b="1" dirty="0"/>
          </a:p>
          <a:p>
            <a:pPr algn="ctr"/>
            <a:r>
              <a:rPr lang="en-US" sz="2000" b="1" dirty="0"/>
              <a:t>n+</a:t>
            </a:r>
            <a:r>
              <a:rPr lang="ru-RU" sz="2000" b="1" dirty="0"/>
              <a:t>, </a:t>
            </a:r>
            <a:r>
              <a:rPr lang="en-US" sz="2000" b="1" dirty="0"/>
              <a:t>p+</a:t>
            </a:r>
            <a:endParaRPr lang="ru-RU" sz="2000" b="1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22D86CD-8B80-6B53-3E07-DAD385D4E9A8}"/>
              </a:ext>
            </a:extLst>
          </p:cNvPr>
          <p:cNvSpPr txBox="1"/>
          <p:nvPr/>
        </p:nvSpPr>
        <p:spPr>
          <a:xfrm>
            <a:off x="3916512" y="5303802"/>
            <a:ext cx="1341398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000" b="1" dirty="0"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det2</a:t>
            </a:r>
            <a:endParaRPr lang="ru-RU" sz="2000" b="1" dirty="0"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ru-RU" sz="2000" b="1" dirty="0"/>
              <a:t>4 см²</a:t>
            </a:r>
            <a:endParaRPr lang="en-US" sz="2000" b="1" dirty="0"/>
          </a:p>
          <a:p>
            <a:pPr algn="ctr"/>
            <a:r>
              <a:rPr lang="en-US" sz="2000" b="1" dirty="0"/>
              <a:t>n+</a:t>
            </a:r>
            <a:r>
              <a:rPr lang="ru-RU" sz="2000" b="1" dirty="0"/>
              <a:t>, </a:t>
            </a:r>
            <a:r>
              <a:rPr lang="en-US" sz="2000" b="1" dirty="0"/>
              <a:t>p+</a:t>
            </a:r>
            <a:endParaRPr lang="ru-RU" sz="2000" b="1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66BC7B6-848C-9EFB-24D2-0CF0E150ABD7}"/>
              </a:ext>
            </a:extLst>
          </p:cNvPr>
          <p:cNvSpPr txBox="1"/>
          <p:nvPr/>
        </p:nvSpPr>
        <p:spPr>
          <a:xfrm>
            <a:off x="6934091" y="5302640"/>
            <a:ext cx="1341398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000" b="1" dirty="0"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det3</a:t>
            </a:r>
            <a:endParaRPr lang="ru-RU" sz="2000" b="1" dirty="0"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ru-RU" sz="2000" b="1" dirty="0"/>
              <a:t>1 см²</a:t>
            </a:r>
            <a:endParaRPr lang="en-US" sz="2000" b="1" dirty="0"/>
          </a:p>
          <a:p>
            <a:pPr algn="ctr"/>
            <a:r>
              <a:rPr lang="en-US" sz="2000" b="1" dirty="0"/>
              <a:t>n+</a:t>
            </a:r>
            <a:r>
              <a:rPr lang="ru-RU" sz="2000" b="1" dirty="0"/>
              <a:t>, </a:t>
            </a:r>
            <a:r>
              <a:rPr lang="en-US" sz="2000" b="1" dirty="0"/>
              <a:t>p+</a:t>
            </a:r>
            <a:endParaRPr lang="ru-RU" sz="2000" b="1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CCF15AC-D716-97F8-6172-61375BB0A982}"/>
              </a:ext>
            </a:extLst>
          </p:cNvPr>
          <p:cNvSpPr txBox="1"/>
          <p:nvPr/>
        </p:nvSpPr>
        <p:spPr>
          <a:xfrm>
            <a:off x="9050787" y="5281323"/>
            <a:ext cx="3045514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000" b="1" dirty="0" err="1"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mydet</a:t>
            </a:r>
            <a:endParaRPr lang="ru-RU" sz="2000" b="1" dirty="0"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ru-RU" sz="2000" b="1" dirty="0"/>
              <a:t>1 см²</a:t>
            </a:r>
            <a:endParaRPr lang="en-US" sz="2000" b="1" dirty="0"/>
          </a:p>
          <a:p>
            <a:pPr algn="ctr"/>
            <a:r>
              <a:rPr lang="en-US" sz="2000" b="1" dirty="0"/>
              <a:t>n+</a:t>
            </a:r>
            <a:r>
              <a:rPr lang="ru-RU" sz="2000" b="1" dirty="0"/>
              <a:t>, </a:t>
            </a:r>
            <a:r>
              <a:rPr lang="en-US" sz="2000" b="1" dirty="0"/>
              <a:t>p+, </a:t>
            </a:r>
            <a:r>
              <a:rPr lang="ru-RU" sz="2000" b="1" dirty="0"/>
              <a:t>ОК-1</a:t>
            </a:r>
          </a:p>
        </p:txBody>
      </p:sp>
    </p:spTree>
    <p:extLst>
      <p:ext uri="{BB962C8B-B14F-4D97-AF65-F5344CB8AC3E}">
        <p14:creationId xmlns:p14="http://schemas.microsoft.com/office/powerpoint/2010/main" val="76681170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C1DF036-1146-72AD-2471-4A565CC63C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DD75B894-C5CB-C5B3-72E8-605333B0A399}"/>
              </a:ext>
            </a:extLst>
          </p:cNvPr>
          <p:cNvSpPr txBox="1"/>
          <p:nvPr/>
        </p:nvSpPr>
        <p:spPr>
          <a:xfrm>
            <a:off x="2161116" y="142683"/>
            <a:ext cx="827657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</a:pPr>
            <a:r>
              <a:rPr lang="ru-RU" altLang="ru-RU" sz="2800" b="1" dirty="0">
                <a:solidFill>
                  <a:srgbClr val="E5090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Обратные вольтамперные характеристики</a:t>
            </a:r>
          </a:p>
        </p:txBody>
      </p:sp>
      <p:pic>
        <p:nvPicPr>
          <p:cNvPr id="2" name="Рисунок 1" descr="Изображение выглядит как линия, текст, диаграмма, График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BE8755EF-16F0-9B32-7A24-167D8AAC737F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61116" y="798720"/>
            <a:ext cx="7310040" cy="5482908"/>
          </a:xfrm>
          <a:prstGeom prst="rect">
            <a:avLst/>
          </a:prstGeom>
          <a:noFill/>
          <a:ln>
            <a:noFill/>
          </a:ln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342012F9-E297-DB70-7CAC-B9E599C8C7A7}"/>
                  </a:ext>
                </a:extLst>
              </p:cNvPr>
              <p:cNvSpPr txBox="1"/>
              <p:nvPr/>
            </p:nvSpPr>
            <p:spPr>
              <a:xfrm>
                <a:off x="1352678" y="6268928"/>
                <a:ext cx="9486644" cy="58907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sSub>
                      <m:sSubPr>
                        <m:ctrlPr>
                          <a:rPr lang="ru-RU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u-RU" i="1"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ru-RU" i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ru-RU" i="0">
                        <a:latin typeface="Cambria Math" panose="02040503050406030204" pitchFamily="18" charset="0"/>
                      </a:rPr>
                      <m:t>=</m:t>
                    </m:r>
                    <m:r>
                      <a:rPr lang="ru-RU" i="1">
                        <a:latin typeface="Cambria Math" panose="02040503050406030204" pitchFamily="18" charset="0"/>
                      </a:rPr>
                      <m:t>𝐼</m:t>
                    </m:r>
                    <m:r>
                      <a:rPr lang="ru-RU" i="0">
                        <a:latin typeface="Cambria Math" panose="02040503050406030204" pitchFamily="18" charset="0"/>
                      </a:rPr>
                      <m:t>⋅</m:t>
                    </m:r>
                    <m:sSup>
                      <m:sSupPr>
                        <m:ctrlPr>
                          <a:rPr lang="ru-RU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ru-RU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ru-RU" i="1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sSub>
                                  <m:sSubPr>
                                    <m:ctrlPr>
                                      <a:rPr lang="ru-RU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ru-RU" i="1">
                                        <a:latin typeface="Cambria Math" panose="02040503050406030204" pitchFamily="18" charset="0"/>
                                      </a:rPr>
                                      <m:t>𝑇</m:t>
                                    </m:r>
                                  </m:e>
                                  <m:sub>
                                    <m:r>
                                      <a:rPr lang="ru-RU" i="0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sub>
                                </m:sSub>
                              </m:num>
                              <m:den>
                                <m:r>
                                  <a:rPr lang="ru-RU" i="1">
                                    <a:latin typeface="Cambria Math" panose="02040503050406030204" pitchFamily="18" charset="0"/>
                                  </a:rPr>
                                  <m:t>𝑇</m:t>
                                </m:r>
                              </m:den>
                            </m:f>
                          </m:e>
                        </m:d>
                      </m:e>
                      <m:sup>
                        <m:r>
                          <a:rPr lang="ru-RU" i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ru-RU" i="0">
                        <a:latin typeface="Cambria Math" panose="02040503050406030204" pitchFamily="18" charset="0"/>
                      </a:rPr>
                      <m:t>⋅</m:t>
                    </m:r>
                    <m:r>
                      <a:rPr lang="ru-RU" i="1">
                        <a:latin typeface="Cambria Math" panose="02040503050406030204" pitchFamily="18" charset="0"/>
                      </a:rPr>
                      <m:t>𝑒𝑥𝑝</m:t>
                    </m:r>
                    <m:d>
                      <m:dPr>
                        <m:ctrlPr>
                          <a:rPr lang="ru-RU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ru-RU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b>
                              <m:sSubPr>
                                <m:ctrlPr>
                                  <a:rPr lang="ru-RU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ru-RU" i="1">
                                    <a:latin typeface="Cambria Math" panose="02040503050406030204" pitchFamily="18" charset="0"/>
                                  </a:rPr>
                                  <m:t>𝐸</m:t>
                                </m:r>
                              </m:e>
                              <m:sub>
                                <m:r>
                                  <a:rPr lang="ru-RU" i="1">
                                    <a:latin typeface="Cambria Math" panose="02040503050406030204" pitchFamily="18" charset="0"/>
                                  </a:rPr>
                                  <m:t>𝑔</m:t>
                                </m:r>
                              </m:sub>
                            </m:sSub>
                          </m:num>
                          <m:den>
                            <m:r>
                              <a:rPr lang="ru-RU" i="0"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ru-RU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den>
                        </m:f>
                        <m:r>
                          <a:rPr lang="ru-RU" i="0">
                            <a:latin typeface="Cambria Math" panose="02040503050406030204" pitchFamily="18" charset="0"/>
                          </a:rPr>
                          <m:t>⋅</m:t>
                        </m:r>
                        <m:f>
                          <m:fPr>
                            <m:ctrlPr>
                              <a:rPr lang="ru-RU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b>
                              <m:sSubPr>
                                <m:ctrlPr>
                                  <a:rPr lang="ru-RU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ru-RU" i="1">
                                    <a:latin typeface="Cambria Math" panose="02040503050406030204" pitchFamily="18" charset="0"/>
                                  </a:rPr>
                                  <m:t>𝑇</m:t>
                                </m:r>
                              </m:e>
                              <m:sub>
                                <m:r>
                                  <a:rPr lang="ru-RU" i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sub>
                            </m:sSub>
                            <m:r>
                              <a:rPr lang="ru-RU" i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ru-RU" i="1">
                                <a:latin typeface="Cambria Math" panose="02040503050406030204" pitchFamily="18" charset="0"/>
                              </a:rPr>
                              <m:t>𝑇</m:t>
                            </m:r>
                          </m:num>
                          <m:den>
                            <m:sSub>
                              <m:sSubPr>
                                <m:ctrlPr>
                                  <a:rPr lang="ru-RU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ru-RU" i="1">
                                    <a:latin typeface="Cambria Math" panose="02040503050406030204" pitchFamily="18" charset="0"/>
                                  </a:rPr>
                                  <m:t>𝑇</m:t>
                                </m:r>
                              </m:e>
                              <m:sub>
                                <m:r>
                                  <a:rPr lang="ru-RU" i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sub>
                            </m:sSub>
                            <m:r>
                              <a:rPr lang="ru-RU" i="0">
                                <a:latin typeface="Cambria Math" panose="02040503050406030204" pitchFamily="18" charset="0"/>
                              </a:rPr>
                              <m:t>⋅</m:t>
                            </m:r>
                            <m:r>
                              <a:rPr lang="ru-RU" i="1">
                                <a:latin typeface="Cambria Math" panose="02040503050406030204" pitchFamily="18" charset="0"/>
                              </a:rPr>
                              <m:t>𝑇</m:t>
                            </m:r>
                          </m:den>
                        </m:f>
                      </m:e>
                    </m:d>
                  </m:oMath>
                </a14:m>
                <a:r>
                  <a:rPr lang="ru-RU" dirty="0"/>
                  <a:t>, где: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u-RU" i="1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ru-RU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ru-RU" i="1">
                        <a:latin typeface="Cambria Math" panose="02040503050406030204" pitchFamily="18" charset="0"/>
                      </a:rPr>
                      <m:t>=293 К</m:t>
                    </m:r>
                  </m:oMath>
                </a14:m>
                <a:r>
                  <a:rPr lang="ru-RU" dirty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u-RU" i="1"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ru-RU" i="1">
                            <a:latin typeface="Cambria Math" panose="02040503050406030204" pitchFamily="18" charset="0"/>
                          </a:rPr>
                          <m:t>𝑔</m:t>
                        </m:r>
                      </m:sub>
                    </m:sSub>
                    <m:r>
                      <a:rPr lang="ru-RU" i="1">
                        <a:latin typeface="Cambria Math" panose="02040503050406030204" pitchFamily="18" charset="0"/>
                      </a:rPr>
                      <m:t>=1,17 эВ</m:t>
                    </m:r>
                  </m:oMath>
                </a14:m>
                <a:r>
                  <a:rPr lang="ru-RU" dirty="0"/>
                  <a:t>, </a:t>
                </a:r>
                <a14:m>
                  <m:oMath xmlns:m="http://schemas.openxmlformats.org/officeDocument/2006/math">
                    <m:r>
                      <a:rPr lang="ru-RU" i="1">
                        <a:latin typeface="Cambria Math" panose="02040503050406030204" pitchFamily="18" charset="0"/>
                      </a:rPr>
                      <m:t>𝑘</m:t>
                    </m:r>
                    <m:r>
                      <a:rPr lang="ru-RU" i="1">
                        <a:latin typeface="Cambria Math" panose="02040503050406030204" pitchFamily="18" charset="0"/>
                      </a:rPr>
                      <m:t>=8,62⋅</m:t>
                    </m:r>
                    <m:sSup>
                      <m:sSupPr>
                        <m:ctrlPr>
                          <a:rPr lang="ru-RU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ru-RU" i="1">
                            <a:latin typeface="Cambria Math" panose="02040503050406030204" pitchFamily="18" charset="0"/>
                          </a:rPr>
                          <m:t>10</m:t>
                        </m:r>
                      </m:e>
                      <m:sup>
                        <m:r>
                          <a:rPr lang="ru-RU" i="1">
                            <a:latin typeface="Cambria Math" panose="02040503050406030204" pitchFamily="18" charset="0"/>
                          </a:rPr>
                          <m:t>−5</m:t>
                        </m:r>
                      </m:sup>
                    </m:sSup>
                    <m:r>
                      <a:rPr lang="ru-RU" i="1">
                        <a:latin typeface="Cambria Math" panose="02040503050406030204" pitchFamily="18" charset="0"/>
                      </a:rPr>
                      <m:t>эВ⋅</m:t>
                    </m:r>
                    <m:sSup>
                      <m:sSupPr>
                        <m:ctrlPr>
                          <a:rPr lang="ru-RU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ru-RU" i="1">
                            <a:latin typeface="Cambria Math" panose="02040503050406030204" pitchFamily="18" charset="0"/>
                          </a:rPr>
                          <m:t>К</m:t>
                        </m:r>
                      </m:e>
                      <m:sup>
                        <m:r>
                          <a:rPr lang="ru-RU" i="1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</m:oMath>
                </a14:m>
                <a:endParaRPr lang="ru-RU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342012F9-E297-DB70-7CAC-B9E599C8C7A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52678" y="6268928"/>
                <a:ext cx="9486644" cy="58907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Рисунок 8" descr="Изображение выглядит как искусство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20F5E23D-E155-42B1-9FAB-7826986E08F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081" t="14598" r="15717" b="4198"/>
          <a:stretch>
            <a:fillRect/>
          </a:stretch>
        </p:blipFill>
        <p:spPr bwMode="auto">
          <a:xfrm>
            <a:off x="9821741" y="1264959"/>
            <a:ext cx="1376922" cy="18419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3" descr="Изображение выглядит как кабель, Электрическая проводка, электроника, Электроснабжение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3CDF0F1A-31CA-1EE9-A6F7-EF090420991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075" t="12866" r="9947" b="11156"/>
          <a:stretch>
            <a:fillRect/>
          </a:stretch>
        </p:blipFill>
        <p:spPr bwMode="auto">
          <a:xfrm>
            <a:off x="350903" y="939733"/>
            <a:ext cx="1376922" cy="18419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Рисунок 9" descr="Изображение выглядит как стена, в помещении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C21C7EAD-A6E5-C313-4040-A16021831E1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171" t="28210" r="21219" b="17181"/>
          <a:stretch>
            <a:fillRect/>
          </a:stretch>
        </p:blipFill>
        <p:spPr bwMode="auto">
          <a:xfrm>
            <a:off x="9821741" y="3636081"/>
            <a:ext cx="1376922" cy="18419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Рисунок 7" descr="Изображение выглядит как стена, в помещении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6789767E-E7DA-03BA-753D-4383F2FCFC2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922" t="13493" r="10411" b="13841"/>
          <a:stretch>
            <a:fillRect/>
          </a:stretch>
        </p:blipFill>
        <p:spPr bwMode="auto">
          <a:xfrm>
            <a:off x="338011" y="2845207"/>
            <a:ext cx="1376922" cy="18419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Рисунок 10" descr="Изображение выглядит как Прямоугольник, рамка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CA683A8E-89C5-0734-75AE-0DA853B31426}"/>
              </a:ext>
            </a:extLst>
          </p:cNvPr>
          <p:cNvPicPr>
            <a:picLocks noChangeAspect="1"/>
          </p:cNvPicPr>
          <p:nvPr/>
        </p:nvPicPr>
        <p:blipFill rotWithShape="1"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888" t="1645" r="18506" b="1"/>
          <a:stretch>
            <a:fillRect/>
          </a:stretch>
        </p:blipFill>
        <p:spPr bwMode="auto">
          <a:xfrm>
            <a:off x="350903" y="4777237"/>
            <a:ext cx="1364030" cy="1456971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cxnSp>
        <p:nvCxnSpPr>
          <p:cNvPr id="13" name="Прямая со стрелкой 12">
            <a:extLst>
              <a:ext uri="{FF2B5EF4-FFF2-40B4-BE49-F238E27FC236}">
                <a16:creationId xmlns:a16="http://schemas.microsoft.com/office/drawing/2014/main" id="{F8C87B55-670F-DB7A-B946-5AFACB3E356E}"/>
              </a:ext>
            </a:extLst>
          </p:cNvPr>
          <p:cNvCxnSpPr>
            <a:cxnSpLocks/>
          </p:cNvCxnSpPr>
          <p:nvPr/>
        </p:nvCxnSpPr>
        <p:spPr>
          <a:xfrm>
            <a:off x="1818296" y="1688509"/>
            <a:ext cx="1594845" cy="143721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Прямая со стрелкой 15">
            <a:extLst>
              <a:ext uri="{FF2B5EF4-FFF2-40B4-BE49-F238E27FC236}">
                <a16:creationId xmlns:a16="http://schemas.microsoft.com/office/drawing/2014/main" id="{35D72C46-8B0B-E69B-CCE5-841E8EFE528F}"/>
              </a:ext>
            </a:extLst>
          </p:cNvPr>
          <p:cNvCxnSpPr>
            <a:cxnSpLocks/>
          </p:cNvCxnSpPr>
          <p:nvPr/>
        </p:nvCxnSpPr>
        <p:spPr>
          <a:xfrm flipV="1">
            <a:off x="1776657" y="2722019"/>
            <a:ext cx="1561766" cy="384914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Прямая со стрелкой 21">
            <a:extLst>
              <a:ext uri="{FF2B5EF4-FFF2-40B4-BE49-F238E27FC236}">
                <a16:creationId xmlns:a16="http://schemas.microsoft.com/office/drawing/2014/main" id="{C28EA71E-8336-2D6C-B27B-8B5CD4B73F50}"/>
              </a:ext>
            </a:extLst>
          </p:cNvPr>
          <p:cNvCxnSpPr>
            <a:cxnSpLocks/>
          </p:cNvCxnSpPr>
          <p:nvPr/>
        </p:nvCxnSpPr>
        <p:spPr>
          <a:xfrm flipV="1">
            <a:off x="1872255" y="4477384"/>
            <a:ext cx="1390240" cy="1023838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Прямая со стрелкой 27">
            <a:extLst>
              <a:ext uri="{FF2B5EF4-FFF2-40B4-BE49-F238E27FC236}">
                <a16:creationId xmlns:a16="http://schemas.microsoft.com/office/drawing/2014/main" id="{F8494C91-87B9-3EF8-B80E-88C76DABDC79}"/>
              </a:ext>
            </a:extLst>
          </p:cNvPr>
          <p:cNvCxnSpPr>
            <a:cxnSpLocks/>
          </p:cNvCxnSpPr>
          <p:nvPr/>
        </p:nvCxnSpPr>
        <p:spPr>
          <a:xfrm flipH="1" flipV="1">
            <a:off x="8915400" y="1594867"/>
            <a:ext cx="817530" cy="591079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Прямая со стрелкой 33">
            <a:extLst>
              <a:ext uri="{FF2B5EF4-FFF2-40B4-BE49-F238E27FC236}">
                <a16:creationId xmlns:a16="http://schemas.microsoft.com/office/drawing/2014/main" id="{95C4E9CD-CF61-D3B6-BB58-CD4DFBFF3F7E}"/>
              </a:ext>
            </a:extLst>
          </p:cNvPr>
          <p:cNvCxnSpPr>
            <a:cxnSpLocks/>
          </p:cNvCxnSpPr>
          <p:nvPr/>
        </p:nvCxnSpPr>
        <p:spPr>
          <a:xfrm flipH="1" flipV="1">
            <a:off x="9079377" y="2961667"/>
            <a:ext cx="680640" cy="988033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77411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F0484FC-7A14-7060-1575-902DD7C1C3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9A7CEEDA-F367-6B1F-718E-70E9101AD371}"/>
              </a:ext>
            </a:extLst>
          </p:cNvPr>
          <p:cNvSpPr txBox="1"/>
          <p:nvPr/>
        </p:nvSpPr>
        <p:spPr>
          <a:xfrm>
            <a:off x="2161116" y="142683"/>
            <a:ext cx="827657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</a:pPr>
            <a:r>
              <a:rPr lang="ru-RU" altLang="ru-RU" sz="2800" b="1" dirty="0">
                <a:solidFill>
                  <a:srgbClr val="E5090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Обратные вольтамперные характеристики</a:t>
            </a:r>
          </a:p>
        </p:txBody>
      </p:sp>
      <p:pic>
        <p:nvPicPr>
          <p:cNvPr id="3" name="Рисунок 2" descr="Изображение выглядит как текст, диаграмма, линия, График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8CA6C514-9E74-6158-1A19-197ED355C14B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6782" y="886089"/>
            <a:ext cx="7756883" cy="5941048"/>
          </a:xfrm>
          <a:prstGeom prst="rect">
            <a:avLst/>
          </a:prstGeom>
          <a:noFill/>
          <a:ln>
            <a:noFill/>
          </a:ln>
        </p:spPr>
      </p:pic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FDF16C85-F901-12CE-0607-0AAD0D4846FF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33163" y="2885577"/>
            <a:ext cx="1882055" cy="1802378"/>
          </a:xfrm>
          <a:prstGeom prst="rect">
            <a:avLst/>
          </a:prstGeom>
          <a:noFill/>
          <a:ln>
            <a:noFill/>
          </a:ln>
        </p:spPr>
      </p:pic>
      <p:pic>
        <p:nvPicPr>
          <p:cNvPr id="12" name="Рисунок 11" descr="Изображение выглядит как текст, снимок экрана, диаграмма, линия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6F4630DD-8FB6-1659-5417-BBB54098F6FB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33163" y="4856005"/>
            <a:ext cx="1882055" cy="1802378"/>
          </a:xfrm>
          <a:prstGeom prst="rect">
            <a:avLst/>
          </a:prstGeom>
          <a:noFill/>
          <a:ln>
            <a:noFill/>
          </a:ln>
        </p:spPr>
      </p:pic>
      <p:pic>
        <p:nvPicPr>
          <p:cNvPr id="14" name="Рисунок 13" descr="Изображение выглядит как текст, снимок экрана, диаграмма, линия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2135380A-E43C-EA7B-493E-23F1DC8F6429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33163" y="917564"/>
            <a:ext cx="1882055" cy="1799964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Рисунок 7" descr="Изображение выглядит как стена, в помещении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A81E1BC3-8DD1-F912-A38D-48B8287CC62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922" t="13493" r="10411" b="13841"/>
          <a:stretch>
            <a:fillRect/>
          </a:stretch>
        </p:blipFill>
        <p:spPr bwMode="auto">
          <a:xfrm>
            <a:off x="1823174" y="1023377"/>
            <a:ext cx="1925865" cy="25763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5" name="Прямая со стрелкой 14">
            <a:extLst>
              <a:ext uri="{FF2B5EF4-FFF2-40B4-BE49-F238E27FC236}">
                <a16:creationId xmlns:a16="http://schemas.microsoft.com/office/drawing/2014/main" id="{15AE93F4-5314-445B-2962-D80969CFA217}"/>
              </a:ext>
            </a:extLst>
          </p:cNvPr>
          <p:cNvCxnSpPr>
            <a:cxnSpLocks/>
          </p:cNvCxnSpPr>
          <p:nvPr/>
        </p:nvCxnSpPr>
        <p:spPr>
          <a:xfrm flipH="1">
            <a:off x="8442963" y="1325880"/>
            <a:ext cx="1994725" cy="196126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Прямая со стрелкой 17">
            <a:extLst>
              <a:ext uri="{FF2B5EF4-FFF2-40B4-BE49-F238E27FC236}">
                <a16:creationId xmlns:a16="http://schemas.microsoft.com/office/drawing/2014/main" id="{45786437-77BA-5B11-611E-228AEFD8E5D8}"/>
              </a:ext>
            </a:extLst>
          </p:cNvPr>
          <p:cNvCxnSpPr>
            <a:cxnSpLocks/>
          </p:cNvCxnSpPr>
          <p:nvPr/>
        </p:nvCxnSpPr>
        <p:spPr>
          <a:xfrm flipH="1" flipV="1">
            <a:off x="8088539" y="2755606"/>
            <a:ext cx="1994725" cy="461620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Прямая со стрелкой 19">
            <a:extLst>
              <a:ext uri="{FF2B5EF4-FFF2-40B4-BE49-F238E27FC236}">
                <a16:creationId xmlns:a16="http://schemas.microsoft.com/office/drawing/2014/main" id="{3C405706-AFD3-50DE-1EBB-C17FE9EEE992}"/>
              </a:ext>
            </a:extLst>
          </p:cNvPr>
          <p:cNvCxnSpPr>
            <a:cxnSpLocks/>
          </p:cNvCxnSpPr>
          <p:nvPr/>
        </p:nvCxnSpPr>
        <p:spPr>
          <a:xfrm flipH="1" flipV="1">
            <a:off x="8088542" y="4983594"/>
            <a:ext cx="2701378" cy="310945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9633645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569C796-7A4D-CFCF-D0DB-9F9AFA16AF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6A9BEBA4-BBD7-03F1-25DE-8961FD2C8661}"/>
              </a:ext>
            </a:extLst>
          </p:cNvPr>
          <p:cNvSpPr txBox="1"/>
          <p:nvPr/>
        </p:nvSpPr>
        <p:spPr>
          <a:xfrm>
            <a:off x="2161116" y="129431"/>
            <a:ext cx="827657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</a:pPr>
            <a:r>
              <a:rPr lang="ru-RU" altLang="ru-RU" sz="2800" b="1" dirty="0">
                <a:solidFill>
                  <a:srgbClr val="E5090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Вольтфарадные характеристики</a:t>
            </a:r>
          </a:p>
        </p:txBody>
      </p:sp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61A6277A-AE7C-8A27-4102-D08824E27CE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5242" y="1355541"/>
            <a:ext cx="3890583" cy="2439028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5081E329-DEC8-1934-2A44-26D69CF1D755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83695" y="1340301"/>
            <a:ext cx="3902961" cy="2439028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F96F14F1-422A-8CF0-2C68-71A00CCB2095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04046" y="1340301"/>
            <a:ext cx="3902961" cy="2439028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7A7B529F-E429-FC99-88B1-4A31C6E0243D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7644" y="4050938"/>
            <a:ext cx="3902961" cy="2439028"/>
          </a:xfrm>
          <a:prstGeom prst="rect">
            <a:avLst/>
          </a:prstGeom>
          <a:noFill/>
          <a:ln>
            <a:noFill/>
          </a:ln>
        </p:spPr>
      </p:pic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2E95228F-2D7A-1F07-CC71-703AE48F868E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70605" y="4050938"/>
            <a:ext cx="3902961" cy="2439028"/>
          </a:xfrm>
          <a:prstGeom prst="rect">
            <a:avLst/>
          </a:prstGeom>
          <a:noFill/>
          <a:ln>
            <a:noFill/>
          </a:ln>
        </p:spPr>
      </p:pic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B289E1BD-46AF-E437-A5D7-793C858EB363}"/>
              </a:ext>
            </a:extLst>
          </p:cNvPr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73566" y="4050938"/>
            <a:ext cx="3902961" cy="2439028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Рисунок 8" descr="Изображение выглядит как искусство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170114E3-467C-EC98-3B4C-E282CB6D447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081" t="14598" r="15717" b="4198"/>
          <a:stretch>
            <a:fillRect/>
          </a:stretch>
        </p:blipFill>
        <p:spPr bwMode="auto">
          <a:xfrm rot="5400000">
            <a:off x="5882850" y="1722866"/>
            <a:ext cx="1129114" cy="15104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" name="Picture 3" descr="Изображение выглядит как кабель, Электрическая проводка, электроника, Электроснабжение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30AF4AC2-9A09-ACD1-7F2F-13D3DDF5274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075" t="12866" r="9947" b="11156"/>
          <a:stretch>
            <a:fillRect/>
          </a:stretch>
        </p:blipFill>
        <p:spPr bwMode="auto">
          <a:xfrm rot="5400000">
            <a:off x="9873131" y="1758047"/>
            <a:ext cx="1129114" cy="15104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" name="Рисунок 9" descr="Изображение выглядит как стена, в помещении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9892EC6D-2442-0A86-EE24-0F644F60E2B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171" t="28210" r="21219" b="17181"/>
          <a:stretch>
            <a:fillRect/>
          </a:stretch>
        </p:blipFill>
        <p:spPr bwMode="auto">
          <a:xfrm rot="5400000">
            <a:off x="1834888" y="4515217"/>
            <a:ext cx="1129114" cy="15104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" name="Рисунок 7" descr="Изображение выглядит как стена, в помещении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20462F4A-F427-7FF6-5E1D-9142DBCB109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922" t="13493" r="10411" b="13841"/>
          <a:stretch>
            <a:fillRect/>
          </a:stretch>
        </p:blipFill>
        <p:spPr bwMode="auto">
          <a:xfrm rot="5400000">
            <a:off x="9802809" y="4512417"/>
            <a:ext cx="1129114" cy="15104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1" name="Рисунок 20" descr="Изображение выглядит как Прямоугольник, рамка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E608DD7D-CECD-C470-F9E9-3D9D06CD8DBF}"/>
              </a:ext>
            </a:extLst>
          </p:cNvPr>
          <p:cNvPicPr>
            <a:picLocks noChangeAspect="1"/>
          </p:cNvPicPr>
          <p:nvPr/>
        </p:nvPicPr>
        <p:blipFill rotWithShape="1"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888" t="1645" r="18506" b="1"/>
          <a:stretch>
            <a:fillRect/>
          </a:stretch>
        </p:blipFill>
        <p:spPr bwMode="auto">
          <a:xfrm>
            <a:off x="5692172" y="4703095"/>
            <a:ext cx="1059709" cy="1131914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303184308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3EAB6E3-0E5A-8AF4-B03A-E33BAC2479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F4549FE3-986D-5CAB-4069-9DAF52B87E63}"/>
              </a:ext>
            </a:extLst>
          </p:cNvPr>
          <p:cNvSpPr txBox="1"/>
          <p:nvPr/>
        </p:nvSpPr>
        <p:spPr>
          <a:xfrm>
            <a:off x="2161116" y="129431"/>
            <a:ext cx="827657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</a:pPr>
            <a:r>
              <a:rPr lang="ru-RU" altLang="ru-RU" sz="2800" b="1" dirty="0">
                <a:solidFill>
                  <a:srgbClr val="E5090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Вольтфарадные характеристики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3" name="Таблица 2">
                <a:extLst>
                  <a:ext uri="{FF2B5EF4-FFF2-40B4-BE49-F238E27FC236}">
                    <a16:creationId xmlns:a16="http://schemas.microsoft.com/office/drawing/2014/main" id="{0579BF12-C75F-135B-4D52-7A4A00F114C2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96951754"/>
                  </p:ext>
                </p:extLst>
              </p:nvPr>
            </p:nvGraphicFramePr>
            <p:xfrm>
              <a:off x="228600" y="1111340"/>
              <a:ext cx="11734799" cy="3025331"/>
            </p:xfrm>
            <a:graphic>
              <a:graphicData uri="http://schemas.openxmlformats.org/drawingml/2006/table">
                <a:tbl>
                  <a:tblPr firstRow="1" firstCol="1" bandRow="1">
                    <a:tableStyleId>{5C22544A-7EE6-4342-B048-85BDC9FD1C3A}</a:tableStyleId>
                  </a:tblPr>
                  <a:tblGrid>
                    <a:gridCol w="1943436">
                      <a:extLst>
                        <a:ext uri="{9D8B030D-6E8A-4147-A177-3AD203B41FA5}">
                          <a16:colId xmlns:a16="http://schemas.microsoft.com/office/drawing/2014/main" val="3262411450"/>
                        </a:ext>
                      </a:extLst>
                    </a:gridCol>
                    <a:gridCol w="2002779">
                      <a:extLst>
                        <a:ext uri="{9D8B030D-6E8A-4147-A177-3AD203B41FA5}">
                          <a16:colId xmlns:a16="http://schemas.microsoft.com/office/drawing/2014/main" val="3140132124"/>
                        </a:ext>
                      </a:extLst>
                    </a:gridCol>
                    <a:gridCol w="1922403">
                      <a:extLst>
                        <a:ext uri="{9D8B030D-6E8A-4147-A177-3AD203B41FA5}">
                          <a16:colId xmlns:a16="http://schemas.microsoft.com/office/drawing/2014/main" val="3675811995"/>
                        </a:ext>
                      </a:extLst>
                    </a:gridCol>
                    <a:gridCol w="1209069">
                      <a:extLst>
                        <a:ext uri="{9D8B030D-6E8A-4147-A177-3AD203B41FA5}">
                          <a16:colId xmlns:a16="http://schemas.microsoft.com/office/drawing/2014/main" val="3619479500"/>
                        </a:ext>
                      </a:extLst>
                    </a:gridCol>
                    <a:gridCol w="1555214">
                      <a:extLst>
                        <a:ext uri="{9D8B030D-6E8A-4147-A177-3AD203B41FA5}">
                          <a16:colId xmlns:a16="http://schemas.microsoft.com/office/drawing/2014/main" val="336957577"/>
                        </a:ext>
                      </a:extLst>
                    </a:gridCol>
                    <a:gridCol w="1555214">
                      <a:extLst>
                        <a:ext uri="{9D8B030D-6E8A-4147-A177-3AD203B41FA5}">
                          <a16:colId xmlns:a16="http://schemas.microsoft.com/office/drawing/2014/main" val="4003689325"/>
                        </a:ext>
                      </a:extLst>
                    </a:gridCol>
                    <a:gridCol w="1546684">
                      <a:extLst>
                        <a:ext uri="{9D8B030D-6E8A-4147-A177-3AD203B41FA5}">
                          <a16:colId xmlns:a16="http://schemas.microsoft.com/office/drawing/2014/main" val="1024877891"/>
                        </a:ext>
                      </a:extLst>
                    </a:gridCol>
                  </a:tblGrid>
                  <a:tr h="0"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ru-RU" sz="2800" dirty="0">
                              <a:solidFill>
                                <a:schemeClr val="tx1"/>
                              </a:solidFill>
                              <a:effectLst/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№ (метка)</a:t>
                          </a:r>
                          <a:endParaRPr lang="ru-RU" sz="2800" dirty="0">
                            <a:solidFill>
                              <a:schemeClr val="tx1"/>
                            </a:solidFill>
                            <a:effectLst/>
                            <a:latin typeface="Arial" panose="020B0604020202020204" pitchFamily="34" charset="0"/>
                            <a:ea typeface="Calibri" panose="020F050202020403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ru-RU" sz="2800" dirty="0">
                              <a:solidFill>
                                <a:schemeClr val="tx1"/>
                              </a:solidFill>
                              <a:effectLst/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Площадь,</a:t>
                          </a:r>
                          <a:br>
                            <a:rPr lang="en-US" sz="2800" dirty="0">
                              <a:solidFill>
                                <a:schemeClr val="tx1"/>
                              </a:solidFill>
                              <a:effectLst/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</a:br>
                          <a:r>
                            <a:rPr lang="ru-RU" sz="2800" dirty="0">
                              <a:solidFill>
                                <a:schemeClr val="tx1"/>
                              </a:solidFill>
                              <a:effectLst/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см</a:t>
                          </a:r>
                          <a:r>
                            <a:rPr lang="ru-RU" sz="2800" baseline="30000" dirty="0">
                              <a:solidFill>
                                <a:schemeClr val="tx1"/>
                              </a:solidFill>
                              <a:effectLst/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2</a:t>
                          </a:r>
                          <a:endParaRPr lang="ru-RU" sz="2800" dirty="0">
                            <a:solidFill>
                              <a:schemeClr val="tx1"/>
                            </a:solidFill>
                            <a:effectLst/>
                            <a:latin typeface="Arial" panose="020B0604020202020204" pitchFamily="34" charset="0"/>
                            <a:ea typeface="Calibri" panose="020F050202020403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ru-RU" sz="2800" dirty="0">
                              <a:solidFill>
                                <a:schemeClr val="tx1"/>
                              </a:solidFill>
                              <a:effectLst/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Толщина,</a:t>
                          </a:r>
                          <a:br>
                            <a:rPr lang="en-US" sz="2800" dirty="0">
                              <a:solidFill>
                                <a:schemeClr val="tx1"/>
                              </a:solidFill>
                              <a:effectLst/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</a:br>
                          <a:r>
                            <a:rPr lang="ru-RU" sz="2800" dirty="0">
                              <a:solidFill>
                                <a:schemeClr val="tx1"/>
                              </a:solidFill>
                              <a:effectLst/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мкм</a:t>
                          </a:r>
                          <a:endParaRPr lang="ru-RU" sz="2800" dirty="0">
                            <a:solidFill>
                              <a:schemeClr val="tx1"/>
                            </a:solidFill>
                            <a:effectLst/>
                            <a:latin typeface="Arial" panose="020B0604020202020204" pitchFamily="34" charset="0"/>
                            <a:ea typeface="Calibri" panose="020F050202020403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ru-RU" sz="2800" i="1" smtClean="0">
                                      <a:solidFill>
                                        <a:schemeClr val="tx1"/>
                                      </a:solidFill>
                                      <a:effectLst/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800">
                                      <a:solidFill>
                                        <a:schemeClr val="tx1"/>
                                      </a:solidFill>
                                      <a:effectLst/>
                                      <a:latin typeface="Cambria Math" panose="02040503050406030204" pitchFamily="18" charset="0"/>
                                    </a:rPr>
                                    <m:t>𝑈</m:t>
                                  </m:r>
                                </m:e>
                                <m:sub>
                                  <m:r>
                                    <a:rPr lang="en-US" sz="2800" baseline="-25000">
                                      <a:solidFill>
                                        <a:schemeClr val="tx1"/>
                                      </a:solidFill>
                                      <a:effectLst/>
                                      <a:latin typeface="Cambria Math" panose="02040503050406030204" pitchFamily="18" charset="0"/>
                                    </a:rPr>
                                    <m:t>𝑓𝑑</m:t>
                                  </m:r>
                                </m:sub>
                              </m:sSub>
                            </m:oMath>
                          </a14:m>
                          <a:r>
                            <a:rPr lang="ru-RU" sz="2800" dirty="0">
                              <a:solidFill>
                                <a:schemeClr val="tx1"/>
                              </a:solidFill>
                              <a:effectLst/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, </a:t>
                          </a:r>
                          <a:br>
                            <a:rPr lang="en-US" sz="2800" dirty="0">
                              <a:solidFill>
                                <a:schemeClr val="tx1"/>
                              </a:solidFill>
                              <a:effectLst/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</a:br>
                          <a:r>
                            <a:rPr lang="ru-RU" sz="2800" dirty="0">
                              <a:solidFill>
                                <a:schemeClr val="tx1"/>
                              </a:solidFill>
                              <a:effectLst/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В</a:t>
                          </a:r>
                          <a:endParaRPr lang="ru-RU" sz="2800" dirty="0">
                            <a:solidFill>
                              <a:schemeClr val="tx1"/>
                            </a:solidFill>
                            <a:effectLst/>
                            <a:latin typeface="Arial" panose="020B0604020202020204" pitchFamily="34" charset="0"/>
                            <a:ea typeface="Calibri" panose="020F050202020403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ru-RU" sz="2800" i="1" smtClean="0">
                                      <a:solidFill>
                                        <a:schemeClr val="tx1"/>
                                      </a:solidFill>
                                      <a:effectLst/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ru-RU" sz="2800">
                                      <a:solidFill>
                                        <a:schemeClr val="tx1"/>
                                      </a:solidFill>
                                      <a:effectLst/>
                                      <a:latin typeface="Cambria Math" panose="02040503050406030204" pitchFamily="18" charset="0"/>
                                    </a:rPr>
                                    <m:t>𝐶</m:t>
                                  </m:r>
                                </m:e>
                                <m:sub>
                                  <m:r>
                                    <a:rPr lang="en-US" sz="2800">
                                      <a:solidFill>
                                        <a:schemeClr val="tx1"/>
                                      </a:solidFill>
                                      <a:effectLst/>
                                      <a:latin typeface="Cambria Math" panose="02040503050406030204" pitchFamily="18" charset="0"/>
                                    </a:rPr>
                                    <m:t>300 </m:t>
                                  </m:r>
                                  <m:r>
                                    <a:rPr lang="en-US" sz="2800">
                                      <a:solidFill>
                                        <a:schemeClr val="tx1"/>
                                      </a:solidFill>
                                      <a:effectLst/>
                                      <a:latin typeface="Cambria Math" panose="02040503050406030204" pitchFamily="18" charset="0"/>
                                    </a:rPr>
                                    <m:t>𝑉</m:t>
                                  </m:r>
                                </m:sub>
                              </m:sSub>
                            </m:oMath>
                          </a14:m>
                          <a:r>
                            <a:rPr lang="ru-RU" sz="2800" dirty="0">
                              <a:solidFill>
                                <a:schemeClr val="tx1"/>
                              </a:solidFill>
                              <a:effectLst/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, </a:t>
                          </a:r>
                          <a:br>
                            <a:rPr lang="en-US" sz="2800" dirty="0">
                              <a:solidFill>
                                <a:schemeClr val="tx1"/>
                              </a:solidFill>
                              <a:effectLst/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</a:br>
                          <a:r>
                            <a:rPr lang="ru-RU" sz="2800" dirty="0">
                              <a:solidFill>
                                <a:schemeClr val="tx1"/>
                              </a:solidFill>
                              <a:effectLst/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пФ</a:t>
                          </a:r>
                          <a:endParaRPr lang="ru-RU" sz="2800" dirty="0">
                            <a:solidFill>
                              <a:schemeClr val="tx1"/>
                            </a:solidFill>
                            <a:effectLst/>
                            <a:latin typeface="Arial" panose="020B0604020202020204" pitchFamily="34" charset="0"/>
                            <a:ea typeface="Calibri" panose="020F050202020403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ru-RU" sz="2800" i="1" smtClean="0">
                                      <a:solidFill>
                                        <a:schemeClr val="tx1"/>
                                      </a:solidFill>
                                      <a:effectLst/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800">
                                      <a:solidFill>
                                        <a:schemeClr val="tx1"/>
                                      </a:solidFill>
                                      <a:effectLst/>
                                      <a:latin typeface="Cambria Math" panose="02040503050406030204" pitchFamily="18" charset="0"/>
                                    </a:rPr>
                                    <m:t>𝐶</m:t>
                                  </m:r>
                                </m:e>
                                <m:sub>
                                  <m:r>
                                    <a:rPr lang="ru-RU" sz="2800">
                                      <a:solidFill>
                                        <a:schemeClr val="tx1"/>
                                      </a:solidFill>
                                      <a:effectLst/>
                                      <a:latin typeface="Cambria Math" panose="02040503050406030204" pitchFamily="18" charset="0"/>
                                    </a:rPr>
                                    <m:t>теор</m:t>
                                  </m:r>
                                </m:sub>
                              </m:sSub>
                            </m:oMath>
                          </a14:m>
                          <a:r>
                            <a:rPr lang="ru-RU" sz="2800" dirty="0">
                              <a:solidFill>
                                <a:schemeClr val="tx1"/>
                              </a:solidFill>
                              <a:effectLst/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, </a:t>
                          </a:r>
                          <a:br>
                            <a:rPr lang="en-US" sz="2800" dirty="0">
                              <a:solidFill>
                                <a:schemeClr val="tx1"/>
                              </a:solidFill>
                              <a:effectLst/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</a:br>
                          <a:r>
                            <a:rPr lang="ru-RU" sz="2800" dirty="0">
                              <a:solidFill>
                                <a:schemeClr val="tx1"/>
                              </a:solidFill>
                              <a:effectLst/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пФ</a:t>
                          </a:r>
                          <a:endParaRPr lang="ru-RU" sz="2800" dirty="0">
                            <a:solidFill>
                              <a:schemeClr val="tx1"/>
                            </a:solidFill>
                            <a:effectLst/>
                            <a:latin typeface="Arial" panose="020B0604020202020204" pitchFamily="34" charset="0"/>
                            <a:ea typeface="Calibri" panose="020F050202020403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14:m>
                            <m:oMath xmlns:m="http://schemas.openxmlformats.org/officeDocument/2006/math">
                              <m:r>
                                <a:rPr lang="ru-RU" sz="2800" smtClean="0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  <m:t>𝜌</m:t>
                              </m:r>
                            </m:oMath>
                          </a14:m>
                          <a:r>
                            <a:rPr lang="ru-RU" sz="2800" dirty="0">
                              <a:solidFill>
                                <a:schemeClr val="tx1"/>
                              </a:solidFill>
                              <a:effectLst/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, кОм·см</a:t>
                          </a:r>
                          <a:endParaRPr lang="ru-RU" sz="2800" dirty="0">
                            <a:solidFill>
                              <a:schemeClr val="tx1"/>
                            </a:solidFill>
                            <a:effectLst/>
                            <a:latin typeface="Arial" panose="020B0604020202020204" pitchFamily="34" charset="0"/>
                            <a:ea typeface="Calibri" panose="020F050202020403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466134862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ru-RU" sz="2800" dirty="0">
                              <a:solidFill>
                                <a:schemeClr val="tx1"/>
                              </a:solidFill>
                              <a:effectLst/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1 (</a:t>
                          </a:r>
                          <a:r>
                            <a:rPr lang="en-US" sz="2800" dirty="0">
                              <a:solidFill>
                                <a:schemeClr val="tx1"/>
                              </a:solidFill>
                              <a:effectLst/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det1)</a:t>
                          </a:r>
                          <a:endParaRPr lang="ru-RU" sz="2800" dirty="0">
                            <a:solidFill>
                              <a:schemeClr val="tx1"/>
                            </a:solidFill>
                            <a:effectLst/>
                            <a:latin typeface="Arial" panose="020B0604020202020204" pitchFamily="34" charset="0"/>
                            <a:ea typeface="Calibri" panose="020F050202020403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sz="2800">
                              <a:solidFill>
                                <a:schemeClr val="tx1"/>
                              </a:solidFill>
                              <a:effectLst/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5</a:t>
                          </a:r>
                          <a:endParaRPr lang="ru-RU" sz="2800">
                            <a:solidFill>
                              <a:schemeClr val="tx1"/>
                            </a:solidFill>
                            <a:effectLst/>
                            <a:latin typeface="Arial" panose="020B0604020202020204" pitchFamily="34" charset="0"/>
                            <a:ea typeface="Calibri" panose="020F050202020403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 rowSpan="5"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ru-RU" sz="2800" dirty="0">
                              <a:solidFill>
                                <a:schemeClr val="tx1"/>
                              </a:solidFill>
                              <a:effectLst/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300</a:t>
                          </a:r>
                          <a:endParaRPr lang="ru-RU" sz="2800" dirty="0">
                            <a:solidFill>
                              <a:schemeClr val="tx1"/>
                            </a:solidFill>
                            <a:effectLst/>
                            <a:latin typeface="Arial" panose="020B0604020202020204" pitchFamily="34" charset="0"/>
                            <a:ea typeface="Calibri" panose="020F050202020403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ru-RU" sz="2800">
                              <a:solidFill>
                                <a:schemeClr val="tx1"/>
                              </a:solidFill>
                              <a:effectLst/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55,9</a:t>
                          </a:r>
                          <a:endParaRPr lang="ru-RU" sz="2800">
                            <a:solidFill>
                              <a:schemeClr val="tx1"/>
                            </a:solidFill>
                            <a:effectLst/>
                            <a:latin typeface="Arial" panose="020B0604020202020204" pitchFamily="34" charset="0"/>
                            <a:ea typeface="Calibri" panose="020F050202020403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ru-RU" sz="2800">
                              <a:solidFill>
                                <a:schemeClr val="tx1"/>
                              </a:solidFill>
                              <a:effectLst/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179</a:t>
                          </a:r>
                          <a:endParaRPr lang="ru-RU" sz="2800">
                            <a:solidFill>
                              <a:schemeClr val="tx1"/>
                            </a:solidFill>
                            <a:effectLst/>
                            <a:latin typeface="Arial" panose="020B0604020202020204" pitchFamily="34" charset="0"/>
                            <a:ea typeface="Calibri" panose="020F050202020403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ru-RU" sz="2800">
                              <a:solidFill>
                                <a:schemeClr val="tx1"/>
                              </a:solidFill>
                              <a:effectLst/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172</a:t>
                          </a:r>
                          <a:endParaRPr lang="ru-RU" sz="2800">
                            <a:solidFill>
                              <a:schemeClr val="tx1"/>
                            </a:solidFill>
                            <a:effectLst/>
                            <a:latin typeface="Arial" panose="020B0604020202020204" pitchFamily="34" charset="0"/>
                            <a:ea typeface="Calibri" panose="020F050202020403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ru-RU" sz="2800">
                              <a:solidFill>
                                <a:schemeClr val="tx1"/>
                              </a:solidFill>
                              <a:effectLst/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4,97</a:t>
                          </a:r>
                          <a:endParaRPr lang="ru-RU" sz="2800">
                            <a:solidFill>
                              <a:schemeClr val="tx1"/>
                            </a:solidFill>
                            <a:effectLst/>
                            <a:latin typeface="Arial" panose="020B0604020202020204" pitchFamily="34" charset="0"/>
                            <a:ea typeface="Calibri" panose="020F050202020403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682070061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ru-RU" sz="2800">
                              <a:solidFill>
                                <a:schemeClr val="tx1"/>
                              </a:solidFill>
                              <a:effectLst/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2</a:t>
                          </a:r>
                          <a:r>
                            <a:rPr lang="en-US" sz="2800">
                              <a:solidFill>
                                <a:schemeClr val="tx1"/>
                              </a:solidFill>
                              <a:effectLst/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 (det2)</a:t>
                          </a:r>
                          <a:endParaRPr lang="ru-RU" sz="2800">
                            <a:solidFill>
                              <a:schemeClr val="tx1"/>
                            </a:solidFill>
                            <a:effectLst/>
                            <a:latin typeface="Arial" panose="020B0604020202020204" pitchFamily="34" charset="0"/>
                            <a:ea typeface="Calibri" panose="020F050202020403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ru-RU" sz="2800">
                              <a:solidFill>
                                <a:schemeClr val="tx1"/>
                              </a:solidFill>
                              <a:effectLst/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4</a:t>
                          </a:r>
                          <a:endParaRPr lang="ru-RU" sz="2800">
                            <a:solidFill>
                              <a:schemeClr val="tx1"/>
                            </a:solidFill>
                            <a:effectLst/>
                            <a:latin typeface="Arial" panose="020B0604020202020204" pitchFamily="34" charset="0"/>
                            <a:ea typeface="Calibri" panose="020F050202020403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 vMerge="1"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ru-RU" sz="2800">
                              <a:solidFill>
                                <a:schemeClr val="tx1"/>
                              </a:solidFill>
                              <a:effectLst/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93,9</a:t>
                          </a:r>
                          <a:endParaRPr lang="ru-RU" sz="2800">
                            <a:solidFill>
                              <a:schemeClr val="tx1"/>
                            </a:solidFill>
                            <a:effectLst/>
                            <a:latin typeface="Arial" panose="020B0604020202020204" pitchFamily="34" charset="0"/>
                            <a:ea typeface="Calibri" panose="020F050202020403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ru-RU" sz="2800">
                              <a:solidFill>
                                <a:schemeClr val="tx1"/>
                              </a:solidFill>
                              <a:effectLst/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121</a:t>
                          </a:r>
                          <a:endParaRPr lang="ru-RU" sz="2800">
                            <a:solidFill>
                              <a:schemeClr val="tx1"/>
                            </a:solidFill>
                            <a:effectLst/>
                            <a:latin typeface="Arial" panose="020B0604020202020204" pitchFamily="34" charset="0"/>
                            <a:ea typeface="Calibri" panose="020F050202020403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ru-RU" sz="2800">
                              <a:solidFill>
                                <a:schemeClr val="tx1"/>
                              </a:solidFill>
                              <a:effectLst/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138</a:t>
                          </a:r>
                          <a:endParaRPr lang="ru-RU" sz="2800">
                            <a:solidFill>
                              <a:schemeClr val="tx1"/>
                            </a:solidFill>
                            <a:effectLst/>
                            <a:latin typeface="Arial" panose="020B0604020202020204" pitchFamily="34" charset="0"/>
                            <a:ea typeface="Calibri" panose="020F050202020403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ru-RU" sz="2800">
                              <a:solidFill>
                                <a:schemeClr val="tx1"/>
                              </a:solidFill>
                              <a:effectLst/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2,96</a:t>
                          </a:r>
                          <a:endParaRPr lang="ru-RU" sz="2800">
                            <a:solidFill>
                              <a:schemeClr val="tx1"/>
                            </a:solidFill>
                            <a:effectLst/>
                            <a:latin typeface="Arial" panose="020B0604020202020204" pitchFamily="34" charset="0"/>
                            <a:ea typeface="Calibri" panose="020F050202020403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512584856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ru-RU" sz="2800" dirty="0">
                              <a:solidFill>
                                <a:schemeClr val="tx1"/>
                              </a:solidFill>
                              <a:effectLst/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3</a:t>
                          </a:r>
                          <a:r>
                            <a:rPr lang="en-US" sz="2800" dirty="0">
                              <a:solidFill>
                                <a:schemeClr val="tx1"/>
                              </a:solidFill>
                              <a:effectLst/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 (det3)</a:t>
                          </a:r>
                          <a:endParaRPr lang="ru-RU" sz="2800" dirty="0">
                            <a:solidFill>
                              <a:schemeClr val="tx1"/>
                            </a:solidFill>
                            <a:effectLst/>
                            <a:latin typeface="Arial" panose="020B0604020202020204" pitchFamily="34" charset="0"/>
                            <a:ea typeface="Calibri" panose="020F050202020403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 rowSpan="2"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ru-RU" sz="2800" dirty="0">
                              <a:solidFill>
                                <a:schemeClr val="tx1"/>
                              </a:solidFill>
                              <a:effectLst/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1</a:t>
                          </a:r>
                          <a:endParaRPr lang="ru-RU" sz="2800" dirty="0">
                            <a:solidFill>
                              <a:schemeClr val="tx1"/>
                            </a:solidFill>
                            <a:effectLst/>
                            <a:latin typeface="Arial" panose="020B0604020202020204" pitchFamily="34" charset="0"/>
                            <a:ea typeface="Calibri" panose="020F050202020403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 vMerge="1"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ru-RU" sz="2800">
                              <a:solidFill>
                                <a:schemeClr val="tx1"/>
                              </a:solidFill>
                              <a:effectLst/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54,5</a:t>
                          </a:r>
                          <a:endParaRPr lang="ru-RU" sz="2800">
                            <a:solidFill>
                              <a:schemeClr val="tx1"/>
                            </a:solidFill>
                            <a:effectLst/>
                            <a:latin typeface="Arial" panose="020B0604020202020204" pitchFamily="34" charset="0"/>
                            <a:ea typeface="Calibri" panose="020F050202020403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ru-RU" sz="2800">
                              <a:solidFill>
                                <a:schemeClr val="tx1"/>
                              </a:solidFill>
                              <a:effectLst/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23,7</a:t>
                          </a:r>
                          <a:endParaRPr lang="ru-RU" sz="2800">
                            <a:solidFill>
                              <a:schemeClr val="tx1"/>
                            </a:solidFill>
                            <a:effectLst/>
                            <a:latin typeface="Arial" panose="020B0604020202020204" pitchFamily="34" charset="0"/>
                            <a:ea typeface="Calibri" panose="020F050202020403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 rowSpan="2"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ru-RU" sz="2800">
                              <a:solidFill>
                                <a:schemeClr val="tx1"/>
                              </a:solidFill>
                              <a:effectLst/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34,4</a:t>
                          </a:r>
                          <a:endParaRPr lang="ru-RU" sz="2800">
                            <a:solidFill>
                              <a:schemeClr val="tx1"/>
                            </a:solidFill>
                            <a:effectLst/>
                            <a:latin typeface="Arial" panose="020B0604020202020204" pitchFamily="34" charset="0"/>
                            <a:ea typeface="Calibri" panose="020F050202020403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ru-RU" sz="2800">
                              <a:solidFill>
                                <a:schemeClr val="tx1"/>
                              </a:solidFill>
                              <a:effectLst/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5,10</a:t>
                          </a:r>
                          <a:endParaRPr lang="ru-RU" sz="2800">
                            <a:solidFill>
                              <a:schemeClr val="tx1"/>
                            </a:solidFill>
                            <a:effectLst/>
                            <a:latin typeface="Arial" panose="020B0604020202020204" pitchFamily="34" charset="0"/>
                            <a:ea typeface="Calibri" panose="020F050202020403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231315726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ru-RU" sz="2800">
                              <a:solidFill>
                                <a:schemeClr val="tx1"/>
                              </a:solidFill>
                              <a:effectLst/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4</a:t>
                          </a:r>
                          <a:r>
                            <a:rPr lang="en-US" sz="2800">
                              <a:solidFill>
                                <a:schemeClr val="tx1"/>
                              </a:solidFill>
                              <a:effectLst/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 (mydet)</a:t>
                          </a:r>
                          <a:endParaRPr lang="ru-RU" sz="2800">
                            <a:solidFill>
                              <a:schemeClr val="tx1"/>
                            </a:solidFill>
                            <a:effectLst/>
                            <a:latin typeface="Arial" panose="020B0604020202020204" pitchFamily="34" charset="0"/>
                            <a:ea typeface="Calibri" panose="020F050202020403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 vMerge="1"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/>
                    </a:tc>
                    <a:tc vMerge="1"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ru-RU" sz="2800" dirty="0">
                              <a:solidFill>
                                <a:schemeClr val="tx1"/>
                              </a:solidFill>
                              <a:effectLst/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73,7</a:t>
                          </a:r>
                          <a:endParaRPr lang="ru-RU" sz="2800" dirty="0">
                            <a:solidFill>
                              <a:schemeClr val="tx1"/>
                            </a:solidFill>
                            <a:effectLst/>
                            <a:latin typeface="Arial" panose="020B0604020202020204" pitchFamily="34" charset="0"/>
                            <a:ea typeface="Calibri" panose="020F050202020403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ru-RU" sz="2800">
                              <a:solidFill>
                                <a:schemeClr val="tx1"/>
                              </a:solidFill>
                              <a:effectLst/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24,3</a:t>
                          </a:r>
                          <a:endParaRPr lang="ru-RU" sz="2800">
                            <a:solidFill>
                              <a:schemeClr val="tx1"/>
                            </a:solidFill>
                            <a:effectLst/>
                            <a:latin typeface="Arial" panose="020B0604020202020204" pitchFamily="34" charset="0"/>
                            <a:ea typeface="Calibri" panose="020F050202020403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 vMerge="1"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ru-RU" sz="2800">
                              <a:solidFill>
                                <a:schemeClr val="tx1"/>
                              </a:solidFill>
                              <a:effectLst/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3,77</a:t>
                          </a:r>
                          <a:endParaRPr lang="ru-RU" sz="2800">
                            <a:solidFill>
                              <a:schemeClr val="tx1"/>
                            </a:solidFill>
                            <a:effectLst/>
                            <a:latin typeface="Arial" panose="020B0604020202020204" pitchFamily="34" charset="0"/>
                            <a:ea typeface="Calibri" panose="020F050202020403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081306530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ru-RU" sz="2800">
                              <a:solidFill>
                                <a:schemeClr val="tx1"/>
                              </a:solidFill>
                              <a:effectLst/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5</a:t>
                          </a:r>
                          <a:r>
                            <a:rPr lang="en-US" sz="2800">
                              <a:solidFill>
                                <a:schemeClr val="tx1"/>
                              </a:solidFill>
                              <a:effectLst/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 (det</a:t>
                          </a:r>
                          <a:r>
                            <a:rPr lang="ru-RU" sz="2800">
                              <a:solidFill>
                                <a:schemeClr val="tx1"/>
                              </a:solidFill>
                              <a:effectLst/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4)</a:t>
                          </a:r>
                          <a:endParaRPr lang="ru-RU" sz="2800">
                            <a:solidFill>
                              <a:schemeClr val="tx1"/>
                            </a:solidFill>
                            <a:effectLst/>
                            <a:latin typeface="Arial" panose="020B0604020202020204" pitchFamily="34" charset="0"/>
                            <a:ea typeface="Calibri" panose="020F050202020403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ru-RU" sz="2800">
                              <a:solidFill>
                                <a:schemeClr val="tx1"/>
                              </a:solidFill>
                              <a:effectLst/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0,25</a:t>
                          </a:r>
                          <a:endParaRPr lang="ru-RU" sz="2800">
                            <a:solidFill>
                              <a:schemeClr val="tx1"/>
                            </a:solidFill>
                            <a:effectLst/>
                            <a:latin typeface="Arial" panose="020B0604020202020204" pitchFamily="34" charset="0"/>
                            <a:ea typeface="Calibri" panose="020F050202020403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 vMerge="1"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ru-RU" sz="2800">
                              <a:solidFill>
                                <a:schemeClr val="tx1"/>
                              </a:solidFill>
                              <a:effectLst/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26,9</a:t>
                          </a:r>
                          <a:endParaRPr lang="ru-RU" sz="2800">
                            <a:solidFill>
                              <a:schemeClr val="tx1"/>
                            </a:solidFill>
                            <a:effectLst/>
                            <a:latin typeface="Arial" panose="020B0604020202020204" pitchFamily="34" charset="0"/>
                            <a:ea typeface="Calibri" panose="020F050202020403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ru-RU" sz="2800" dirty="0">
                              <a:solidFill>
                                <a:schemeClr val="tx1"/>
                              </a:solidFill>
                              <a:effectLst/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10,3</a:t>
                          </a:r>
                          <a:endParaRPr lang="ru-RU" sz="2800" dirty="0">
                            <a:solidFill>
                              <a:schemeClr val="tx1"/>
                            </a:solidFill>
                            <a:effectLst/>
                            <a:latin typeface="Arial" panose="020B0604020202020204" pitchFamily="34" charset="0"/>
                            <a:ea typeface="Calibri" panose="020F050202020403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ru-RU" sz="2800">
                              <a:solidFill>
                                <a:schemeClr val="tx1"/>
                              </a:solidFill>
                              <a:effectLst/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8,6</a:t>
                          </a:r>
                          <a:endParaRPr lang="ru-RU" sz="2800">
                            <a:solidFill>
                              <a:schemeClr val="tx1"/>
                            </a:solidFill>
                            <a:effectLst/>
                            <a:latin typeface="Arial" panose="020B0604020202020204" pitchFamily="34" charset="0"/>
                            <a:ea typeface="Calibri" panose="020F050202020403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ru-RU" sz="2800" dirty="0">
                              <a:solidFill>
                                <a:schemeClr val="tx1"/>
                              </a:solidFill>
                              <a:effectLst/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10,33</a:t>
                          </a:r>
                          <a:endParaRPr lang="ru-RU" sz="2800" dirty="0">
                            <a:solidFill>
                              <a:schemeClr val="tx1"/>
                            </a:solidFill>
                            <a:effectLst/>
                            <a:latin typeface="Arial" panose="020B0604020202020204" pitchFamily="34" charset="0"/>
                            <a:ea typeface="Calibri" panose="020F050202020403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4251864601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3" name="Таблица 2">
                <a:extLst>
                  <a:ext uri="{FF2B5EF4-FFF2-40B4-BE49-F238E27FC236}">
                    <a16:creationId xmlns:a16="http://schemas.microsoft.com/office/drawing/2014/main" id="{0579BF12-C75F-135B-4D52-7A4A00F114C2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96951754"/>
                  </p:ext>
                </p:extLst>
              </p:nvPr>
            </p:nvGraphicFramePr>
            <p:xfrm>
              <a:off x="228600" y="1111340"/>
              <a:ext cx="11734799" cy="3025331"/>
            </p:xfrm>
            <a:graphic>
              <a:graphicData uri="http://schemas.openxmlformats.org/drawingml/2006/table">
                <a:tbl>
                  <a:tblPr firstRow="1" firstCol="1" bandRow="1">
                    <a:tableStyleId>{5C22544A-7EE6-4342-B048-85BDC9FD1C3A}</a:tableStyleId>
                  </a:tblPr>
                  <a:tblGrid>
                    <a:gridCol w="1943436">
                      <a:extLst>
                        <a:ext uri="{9D8B030D-6E8A-4147-A177-3AD203B41FA5}">
                          <a16:colId xmlns:a16="http://schemas.microsoft.com/office/drawing/2014/main" val="3262411450"/>
                        </a:ext>
                      </a:extLst>
                    </a:gridCol>
                    <a:gridCol w="2002779">
                      <a:extLst>
                        <a:ext uri="{9D8B030D-6E8A-4147-A177-3AD203B41FA5}">
                          <a16:colId xmlns:a16="http://schemas.microsoft.com/office/drawing/2014/main" val="3140132124"/>
                        </a:ext>
                      </a:extLst>
                    </a:gridCol>
                    <a:gridCol w="1922403">
                      <a:extLst>
                        <a:ext uri="{9D8B030D-6E8A-4147-A177-3AD203B41FA5}">
                          <a16:colId xmlns:a16="http://schemas.microsoft.com/office/drawing/2014/main" val="3675811995"/>
                        </a:ext>
                      </a:extLst>
                    </a:gridCol>
                    <a:gridCol w="1209069">
                      <a:extLst>
                        <a:ext uri="{9D8B030D-6E8A-4147-A177-3AD203B41FA5}">
                          <a16:colId xmlns:a16="http://schemas.microsoft.com/office/drawing/2014/main" val="3619479500"/>
                        </a:ext>
                      </a:extLst>
                    </a:gridCol>
                    <a:gridCol w="1555214">
                      <a:extLst>
                        <a:ext uri="{9D8B030D-6E8A-4147-A177-3AD203B41FA5}">
                          <a16:colId xmlns:a16="http://schemas.microsoft.com/office/drawing/2014/main" val="336957577"/>
                        </a:ext>
                      </a:extLst>
                    </a:gridCol>
                    <a:gridCol w="1555214">
                      <a:extLst>
                        <a:ext uri="{9D8B030D-6E8A-4147-A177-3AD203B41FA5}">
                          <a16:colId xmlns:a16="http://schemas.microsoft.com/office/drawing/2014/main" val="4003689325"/>
                        </a:ext>
                      </a:extLst>
                    </a:gridCol>
                    <a:gridCol w="1546684">
                      <a:extLst>
                        <a:ext uri="{9D8B030D-6E8A-4147-A177-3AD203B41FA5}">
                          <a16:colId xmlns:a16="http://schemas.microsoft.com/office/drawing/2014/main" val="1024877891"/>
                        </a:ext>
                      </a:extLst>
                    </a:gridCol>
                  </a:tblGrid>
                  <a:tr h="891731"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ru-RU" sz="2800" dirty="0">
                              <a:solidFill>
                                <a:schemeClr val="tx1"/>
                              </a:solidFill>
                              <a:effectLst/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№ (метка)</a:t>
                          </a:r>
                          <a:endParaRPr lang="ru-RU" sz="2800" dirty="0">
                            <a:solidFill>
                              <a:schemeClr val="tx1"/>
                            </a:solidFill>
                            <a:effectLst/>
                            <a:latin typeface="Arial" panose="020B0604020202020204" pitchFamily="34" charset="0"/>
                            <a:ea typeface="Calibri" panose="020F050202020403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ru-RU" sz="2800" dirty="0">
                              <a:solidFill>
                                <a:schemeClr val="tx1"/>
                              </a:solidFill>
                              <a:effectLst/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Площадь,</a:t>
                          </a:r>
                          <a:br>
                            <a:rPr lang="en-US" sz="2800" dirty="0">
                              <a:solidFill>
                                <a:schemeClr val="tx1"/>
                              </a:solidFill>
                              <a:effectLst/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</a:br>
                          <a:r>
                            <a:rPr lang="ru-RU" sz="2800" dirty="0">
                              <a:solidFill>
                                <a:schemeClr val="tx1"/>
                              </a:solidFill>
                              <a:effectLst/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см</a:t>
                          </a:r>
                          <a:r>
                            <a:rPr lang="ru-RU" sz="2800" baseline="30000" dirty="0">
                              <a:solidFill>
                                <a:schemeClr val="tx1"/>
                              </a:solidFill>
                              <a:effectLst/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2</a:t>
                          </a:r>
                          <a:endParaRPr lang="ru-RU" sz="2800" dirty="0">
                            <a:solidFill>
                              <a:schemeClr val="tx1"/>
                            </a:solidFill>
                            <a:effectLst/>
                            <a:latin typeface="Arial" panose="020B0604020202020204" pitchFamily="34" charset="0"/>
                            <a:ea typeface="Calibri" panose="020F050202020403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ru-RU" sz="2800" dirty="0">
                              <a:solidFill>
                                <a:schemeClr val="tx1"/>
                              </a:solidFill>
                              <a:effectLst/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Толщина,</a:t>
                          </a:r>
                          <a:br>
                            <a:rPr lang="en-US" sz="2800" dirty="0">
                              <a:solidFill>
                                <a:schemeClr val="tx1"/>
                              </a:solidFill>
                              <a:effectLst/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</a:br>
                          <a:r>
                            <a:rPr lang="ru-RU" sz="2800" dirty="0">
                              <a:solidFill>
                                <a:schemeClr val="tx1"/>
                              </a:solidFill>
                              <a:effectLst/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мкм</a:t>
                          </a:r>
                          <a:endParaRPr lang="ru-RU" sz="2800" dirty="0">
                            <a:solidFill>
                              <a:schemeClr val="tx1"/>
                            </a:solidFill>
                            <a:effectLst/>
                            <a:latin typeface="Arial" panose="020B0604020202020204" pitchFamily="34" charset="0"/>
                            <a:ea typeface="Calibri" panose="020F050202020403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484422" t="-13014" r="-384925" b="-26438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456078" t="-13014" r="-200392" b="-26438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556078" t="-13014" r="-100392" b="-26438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658661" t="-13014" r="-787" b="-26438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466134862"/>
                      </a:ext>
                    </a:extLst>
                  </a:tr>
                  <a:tr h="426720"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ru-RU" sz="2800" dirty="0">
                              <a:solidFill>
                                <a:schemeClr val="tx1"/>
                              </a:solidFill>
                              <a:effectLst/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1 (</a:t>
                          </a:r>
                          <a:r>
                            <a:rPr lang="en-US" sz="2800" dirty="0">
                              <a:solidFill>
                                <a:schemeClr val="tx1"/>
                              </a:solidFill>
                              <a:effectLst/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det1)</a:t>
                          </a:r>
                          <a:endParaRPr lang="ru-RU" sz="2800" dirty="0">
                            <a:solidFill>
                              <a:schemeClr val="tx1"/>
                            </a:solidFill>
                            <a:effectLst/>
                            <a:latin typeface="Arial" panose="020B0604020202020204" pitchFamily="34" charset="0"/>
                            <a:ea typeface="Calibri" panose="020F050202020403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sz="2800">
                              <a:solidFill>
                                <a:schemeClr val="tx1"/>
                              </a:solidFill>
                              <a:effectLst/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5</a:t>
                          </a:r>
                          <a:endParaRPr lang="ru-RU" sz="2800">
                            <a:solidFill>
                              <a:schemeClr val="tx1"/>
                            </a:solidFill>
                            <a:effectLst/>
                            <a:latin typeface="Arial" panose="020B0604020202020204" pitchFamily="34" charset="0"/>
                            <a:ea typeface="Calibri" panose="020F050202020403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 rowSpan="5"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ru-RU" sz="2800" dirty="0">
                              <a:solidFill>
                                <a:schemeClr val="tx1"/>
                              </a:solidFill>
                              <a:effectLst/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300</a:t>
                          </a:r>
                          <a:endParaRPr lang="ru-RU" sz="2800" dirty="0">
                            <a:solidFill>
                              <a:schemeClr val="tx1"/>
                            </a:solidFill>
                            <a:effectLst/>
                            <a:latin typeface="Arial" panose="020B0604020202020204" pitchFamily="34" charset="0"/>
                            <a:ea typeface="Calibri" panose="020F050202020403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ru-RU" sz="2800">
                              <a:solidFill>
                                <a:schemeClr val="tx1"/>
                              </a:solidFill>
                              <a:effectLst/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55,9</a:t>
                          </a:r>
                          <a:endParaRPr lang="ru-RU" sz="2800">
                            <a:solidFill>
                              <a:schemeClr val="tx1"/>
                            </a:solidFill>
                            <a:effectLst/>
                            <a:latin typeface="Arial" panose="020B0604020202020204" pitchFamily="34" charset="0"/>
                            <a:ea typeface="Calibri" panose="020F050202020403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ru-RU" sz="2800">
                              <a:solidFill>
                                <a:schemeClr val="tx1"/>
                              </a:solidFill>
                              <a:effectLst/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179</a:t>
                          </a:r>
                          <a:endParaRPr lang="ru-RU" sz="2800">
                            <a:solidFill>
                              <a:schemeClr val="tx1"/>
                            </a:solidFill>
                            <a:effectLst/>
                            <a:latin typeface="Arial" panose="020B0604020202020204" pitchFamily="34" charset="0"/>
                            <a:ea typeface="Calibri" panose="020F050202020403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ru-RU" sz="2800">
                              <a:solidFill>
                                <a:schemeClr val="tx1"/>
                              </a:solidFill>
                              <a:effectLst/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172</a:t>
                          </a:r>
                          <a:endParaRPr lang="ru-RU" sz="2800">
                            <a:solidFill>
                              <a:schemeClr val="tx1"/>
                            </a:solidFill>
                            <a:effectLst/>
                            <a:latin typeface="Arial" panose="020B0604020202020204" pitchFamily="34" charset="0"/>
                            <a:ea typeface="Calibri" panose="020F050202020403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ru-RU" sz="2800">
                              <a:solidFill>
                                <a:schemeClr val="tx1"/>
                              </a:solidFill>
                              <a:effectLst/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4,97</a:t>
                          </a:r>
                          <a:endParaRPr lang="ru-RU" sz="2800">
                            <a:solidFill>
                              <a:schemeClr val="tx1"/>
                            </a:solidFill>
                            <a:effectLst/>
                            <a:latin typeface="Arial" panose="020B0604020202020204" pitchFamily="34" charset="0"/>
                            <a:ea typeface="Calibri" panose="020F050202020403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682070061"/>
                      </a:ext>
                    </a:extLst>
                  </a:tr>
                  <a:tr h="426720"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ru-RU" sz="2800">
                              <a:solidFill>
                                <a:schemeClr val="tx1"/>
                              </a:solidFill>
                              <a:effectLst/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2</a:t>
                          </a:r>
                          <a:r>
                            <a:rPr lang="en-US" sz="2800">
                              <a:solidFill>
                                <a:schemeClr val="tx1"/>
                              </a:solidFill>
                              <a:effectLst/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 (det2)</a:t>
                          </a:r>
                          <a:endParaRPr lang="ru-RU" sz="2800">
                            <a:solidFill>
                              <a:schemeClr val="tx1"/>
                            </a:solidFill>
                            <a:effectLst/>
                            <a:latin typeface="Arial" panose="020B0604020202020204" pitchFamily="34" charset="0"/>
                            <a:ea typeface="Calibri" panose="020F050202020403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ru-RU" sz="2800">
                              <a:solidFill>
                                <a:schemeClr val="tx1"/>
                              </a:solidFill>
                              <a:effectLst/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4</a:t>
                          </a:r>
                          <a:endParaRPr lang="ru-RU" sz="2800">
                            <a:solidFill>
                              <a:schemeClr val="tx1"/>
                            </a:solidFill>
                            <a:effectLst/>
                            <a:latin typeface="Arial" panose="020B0604020202020204" pitchFamily="34" charset="0"/>
                            <a:ea typeface="Calibri" panose="020F050202020403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 vMerge="1"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ru-RU" sz="2800">
                              <a:solidFill>
                                <a:schemeClr val="tx1"/>
                              </a:solidFill>
                              <a:effectLst/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93,9</a:t>
                          </a:r>
                          <a:endParaRPr lang="ru-RU" sz="2800">
                            <a:solidFill>
                              <a:schemeClr val="tx1"/>
                            </a:solidFill>
                            <a:effectLst/>
                            <a:latin typeface="Arial" panose="020B0604020202020204" pitchFamily="34" charset="0"/>
                            <a:ea typeface="Calibri" panose="020F050202020403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ru-RU" sz="2800">
                              <a:solidFill>
                                <a:schemeClr val="tx1"/>
                              </a:solidFill>
                              <a:effectLst/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121</a:t>
                          </a:r>
                          <a:endParaRPr lang="ru-RU" sz="2800">
                            <a:solidFill>
                              <a:schemeClr val="tx1"/>
                            </a:solidFill>
                            <a:effectLst/>
                            <a:latin typeface="Arial" panose="020B0604020202020204" pitchFamily="34" charset="0"/>
                            <a:ea typeface="Calibri" panose="020F050202020403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ru-RU" sz="2800">
                              <a:solidFill>
                                <a:schemeClr val="tx1"/>
                              </a:solidFill>
                              <a:effectLst/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138</a:t>
                          </a:r>
                          <a:endParaRPr lang="ru-RU" sz="2800">
                            <a:solidFill>
                              <a:schemeClr val="tx1"/>
                            </a:solidFill>
                            <a:effectLst/>
                            <a:latin typeface="Arial" panose="020B0604020202020204" pitchFamily="34" charset="0"/>
                            <a:ea typeface="Calibri" panose="020F050202020403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ru-RU" sz="2800">
                              <a:solidFill>
                                <a:schemeClr val="tx1"/>
                              </a:solidFill>
                              <a:effectLst/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2,96</a:t>
                          </a:r>
                          <a:endParaRPr lang="ru-RU" sz="2800">
                            <a:solidFill>
                              <a:schemeClr val="tx1"/>
                            </a:solidFill>
                            <a:effectLst/>
                            <a:latin typeface="Arial" panose="020B0604020202020204" pitchFamily="34" charset="0"/>
                            <a:ea typeface="Calibri" panose="020F050202020403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512584856"/>
                      </a:ext>
                    </a:extLst>
                  </a:tr>
                  <a:tr h="426720"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ru-RU" sz="2800" dirty="0">
                              <a:solidFill>
                                <a:schemeClr val="tx1"/>
                              </a:solidFill>
                              <a:effectLst/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3</a:t>
                          </a:r>
                          <a:r>
                            <a:rPr lang="en-US" sz="2800" dirty="0">
                              <a:solidFill>
                                <a:schemeClr val="tx1"/>
                              </a:solidFill>
                              <a:effectLst/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 (det3)</a:t>
                          </a:r>
                          <a:endParaRPr lang="ru-RU" sz="2800" dirty="0">
                            <a:solidFill>
                              <a:schemeClr val="tx1"/>
                            </a:solidFill>
                            <a:effectLst/>
                            <a:latin typeface="Arial" panose="020B0604020202020204" pitchFamily="34" charset="0"/>
                            <a:ea typeface="Calibri" panose="020F050202020403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 rowSpan="2"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ru-RU" sz="2800" dirty="0">
                              <a:solidFill>
                                <a:schemeClr val="tx1"/>
                              </a:solidFill>
                              <a:effectLst/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1</a:t>
                          </a:r>
                          <a:endParaRPr lang="ru-RU" sz="2800" dirty="0">
                            <a:solidFill>
                              <a:schemeClr val="tx1"/>
                            </a:solidFill>
                            <a:effectLst/>
                            <a:latin typeface="Arial" panose="020B0604020202020204" pitchFamily="34" charset="0"/>
                            <a:ea typeface="Calibri" panose="020F050202020403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 vMerge="1"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ru-RU" sz="2800">
                              <a:solidFill>
                                <a:schemeClr val="tx1"/>
                              </a:solidFill>
                              <a:effectLst/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54,5</a:t>
                          </a:r>
                          <a:endParaRPr lang="ru-RU" sz="2800">
                            <a:solidFill>
                              <a:schemeClr val="tx1"/>
                            </a:solidFill>
                            <a:effectLst/>
                            <a:latin typeface="Arial" panose="020B0604020202020204" pitchFamily="34" charset="0"/>
                            <a:ea typeface="Calibri" panose="020F050202020403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ru-RU" sz="2800">
                              <a:solidFill>
                                <a:schemeClr val="tx1"/>
                              </a:solidFill>
                              <a:effectLst/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23,7</a:t>
                          </a:r>
                          <a:endParaRPr lang="ru-RU" sz="2800">
                            <a:solidFill>
                              <a:schemeClr val="tx1"/>
                            </a:solidFill>
                            <a:effectLst/>
                            <a:latin typeface="Arial" panose="020B0604020202020204" pitchFamily="34" charset="0"/>
                            <a:ea typeface="Calibri" panose="020F050202020403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 rowSpan="2"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ru-RU" sz="2800">
                              <a:solidFill>
                                <a:schemeClr val="tx1"/>
                              </a:solidFill>
                              <a:effectLst/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34,4</a:t>
                          </a:r>
                          <a:endParaRPr lang="ru-RU" sz="2800">
                            <a:solidFill>
                              <a:schemeClr val="tx1"/>
                            </a:solidFill>
                            <a:effectLst/>
                            <a:latin typeface="Arial" panose="020B0604020202020204" pitchFamily="34" charset="0"/>
                            <a:ea typeface="Calibri" panose="020F050202020403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ru-RU" sz="2800">
                              <a:solidFill>
                                <a:schemeClr val="tx1"/>
                              </a:solidFill>
                              <a:effectLst/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5,10</a:t>
                          </a:r>
                          <a:endParaRPr lang="ru-RU" sz="2800">
                            <a:solidFill>
                              <a:schemeClr val="tx1"/>
                            </a:solidFill>
                            <a:effectLst/>
                            <a:latin typeface="Arial" panose="020B0604020202020204" pitchFamily="34" charset="0"/>
                            <a:ea typeface="Calibri" panose="020F050202020403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231315726"/>
                      </a:ext>
                    </a:extLst>
                  </a:tr>
                  <a:tr h="426720"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ru-RU" sz="2800">
                              <a:solidFill>
                                <a:schemeClr val="tx1"/>
                              </a:solidFill>
                              <a:effectLst/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4</a:t>
                          </a:r>
                          <a:r>
                            <a:rPr lang="en-US" sz="2800">
                              <a:solidFill>
                                <a:schemeClr val="tx1"/>
                              </a:solidFill>
                              <a:effectLst/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 (mydet)</a:t>
                          </a:r>
                          <a:endParaRPr lang="ru-RU" sz="2800">
                            <a:solidFill>
                              <a:schemeClr val="tx1"/>
                            </a:solidFill>
                            <a:effectLst/>
                            <a:latin typeface="Arial" panose="020B0604020202020204" pitchFamily="34" charset="0"/>
                            <a:ea typeface="Calibri" panose="020F050202020403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 vMerge="1"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/>
                    </a:tc>
                    <a:tc vMerge="1"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ru-RU" sz="2800" dirty="0">
                              <a:solidFill>
                                <a:schemeClr val="tx1"/>
                              </a:solidFill>
                              <a:effectLst/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73,7</a:t>
                          </a:r>
                          <a:endParaRPr lang="ru-RU" sz="2800" dirty="0">
                            <a:solidFill>
                              <a:schemeClr val="tx1"/>
                            </a:solidFill>
                            <a:effectLst/>
                            <a:latin typeface="Arial" panose="020B0604020202020204" pitchFamily="34" charset="0"/>
                            <a:ea typeface="Calibri" panose="020F050202020403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ru-RU" sz="2800">
                              <a:solidFill>
                                <a:schemeClr val="tx1"/>
                              </a:solidFill>
                              <a:effectLst/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24,3</a:t>
                          </a:r>
                          <a:endParaRPr lang="ru-RU" sz="2800">
                            <a:solidFill>
                              <a:schemeClr val="tx1"/>
                            </a:solidFill>
                            <a:effectLst/>
                            <a:latin typeface="Arial" panose="020B0604020202020204" pitchFamily="34" charset="0"/>
                            <a:ea typeface="Calibri" panose="020F050202020403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 vMerge="1"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ru-RU" sz="2800">
                              <a:solidFill>
                                <a:schemeClr val="tx1"/>
                              </a:solidFill>
                              <a:effectLst/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3,77</a:t>
                          </a:r>
                          <a:endParaRPr lang="ru-RU" sz="2800">
                            <a:solidFill>
                              <a:schemeClr val="tx1"/>
                            </a:solidFill>
                            <a:effectLst/>
                            <a:latin typeface="Arial" panose="020B0604020202020204" pitchFamily="34" charset="0"/>
                            <a:ea typeface="Calibri" panose="020F050202020403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081306530"/>
                      </a:ext>
                    </a:extLst>
                  </a:tr>
                  <a:tr h="426720"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ru-RU" sz="2800">
                              <a:solidFill>
                                <a:schemeClr val="tx1"/>
                              </a:solidFill>
                              <a:effectLst/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5</a:t>
                          </a:r>
                          <a:r>
                            <a:rPr lang="en-US" sz="2800">
                              <a:solidFill>
                                <a:schemeClr val="tx1"/>
                              </a:solidFill>
                              <a:effectLst/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 (det</a:t>
                          </a:r>
                          <a:r>
                            <a:rPr lang="ru-RU" sz="2800">
                              <a:solidFill>
                                <a:schemeClr val="tx1"/>
                              </a:solidFill>
                              <a:effectLst/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4)</a:t>
                          </a:r>
                          <a:endParaRPr lang="ru-RU" sz="2800">
                            <a:solidFill>
                              <a:schemeClr val="tx1"/>
                            </a:solidFill>
                            <a:effectLst/>
                            <a:latin typeface="Arial" panose="020B0604020202020204" pitchFamily="34" charset="0"/>
                            <a:ea typeface="Calibri" panose="020F050202020403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ru-RU" sz="2800">
                              <a:solidFill>
                                <a:schemeClr val="tx1"/>
                              </a:solidFill>
                              <a:effectLst/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0,25</a:t>
                          </a:r>
                          <a:endParaRPr lang="ru-RU" sz="2800">
                            <a:solidFill>
                              <a:schemeClr val="tx1"/>
                            </a:solidFill>
                            <a:effectLst/>
                            <a:latin typeface="Arial" panose="020B0604020202020204" pitchFamily="34" charset="0"/>
                            <a:ea typeface="Calibri" panose="020F050202020403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 vMerge="1"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ru-RU" sz="2800">
                              <a:solidFill>
                                <a:schemeClr val="tx1"/>
                              </a:solidFill>
                              <a:effectLst/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26,9</a:t>
                          </a:r>
                          <a:endParaRPr lang="ru-RU" sz="2800">
                            <a:solidFill>
                              <a:schemeClr val="tx1"/>
                            </a:solidFill>
                            <a:effectLst/>
                            <a:latin typeface="Arial" panose="020B0604020202020204" pitchFamily="34" charset="0"/>
                            <a:ea typeface="Calibri" panose="020F050202020403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ru-RU" sz="2800" dirty="0">
                              <a:solidFill>
                                <a:schemeClr val="tx1"/>
                              </a:solidFill>
                              <a:effectLst/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10,3</a:t>
                          </a:r>
                          <a:endParaRPr lang="ru-RU" sz="2800" dirty="0">
                            <a:solidFill>
                              <a:schemeClr val="tx1"/>
                            </a:solidFill>
                            <a:effectLst/>
                            <a:latin typeface="Arial" panose="020B0604020202020204" pitchFamily="34" charset="0"/>
                            <a:ea typeface="Calibri" panose="020F050202020403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ru-RU" sz="2800">
                              <a:solidFill>
                                <a:schemeClr val="tx1"/>
                              </a:solidFill>
                              <a:effectLst/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8,6</a:t>
                          </a:r>
                          <a:endParaRPr lang="ru-RU" sz="2800">
                            <a:solidFill>
                              <a:schemeClr val="tx1"/>
                            </a:solidFill>
                            <a:effectLst/>
                            <a:latin typeface="Arial" panose="020B0604020202020204" pitchFamily="34" charset="0"/>
                            <a:ea typeface="Calibri" panose="020F050202020403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ru-RU" sz="2800" dirty="0">
                              <a:solidFill>
                                <a:schemeClr val="tx1"/>
                              </a:solidFill>
                              <a:effectLst/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10,33</a:t>
                          </a:r>
                          <a:endParaRPr lang="ru-RU" sz="2800" dirty="0">
                            <a:solidFill>
                              <a:schemeClr val="tx1"/>
                            </a:solidFill>
                            <a:effectLst/>
                            <a:latin typeface="Arial" panose="020B0604020202020204" pitchFamily="34" charset="0"/>
                            <a:ea typeface="Calibri" panose="020F050202020403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4251864601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1C7E0526-1E61-D964-89A9-C7208BC64C11}"/>
                  </a:ext>
                </a:extLst>
              </p:cNvPr>
              <p:cNvSpPr txBox="1"/>
              <p:nvPr/>
            </p:nvSpPr>
            <p:spPr>
              <a:xfrm>
                <a:off x="391887" y="4557551"/>
                <a:ext cx="2677884" cy="104746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ru-RU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u-RU" i="1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ru-RU" i="0">
                            <a:latin typeface="Cambria Math" panose="02040503050406030204" pitchFamily="18" charset="0"/>
                          </a:rPr>
                          <m:t>теор</m:t>
                        </m:r>
                      </m:sub>
                    </m:sSub>
                    <m:r>
                      <a:rPr lang="ru-RU" i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ru-RU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ru-RU" i="1">
                            <a:latin typeface="Cambria Math" panose="02040503050406030204" pitchFamily="18" charset="0"/>
                          </a:rPr>
                          <m:t>𝜀</m:t>
                        </m:r>
                        <m:sSub>
                          <m:sSubPr>
                            <m:ctrlPr>
                              <a:rPr lang="ru-RU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ru-RU" i="1">
                                <a:latin typeface="Cambria Math" panose="02040503050406030204" pitchFamily="18" charset="0"/>
                              </a:rPr>
                              <m:t>𝜀</m:t>
                            </m:r>
                          </m:e>
                          <m:sub>
                            <m:r>
                              <a:rPr lang="ru-RU" i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  <m:r>
                          <a:rPr lang="ru-RU" i="1">
                            <a:latin typeface="Cambria Math" panose="02040503050406030204" pitchFamily="18" charset="0"/>
                          </a:rPr>
                          <m:t>𝑆</m:t>
                        </m:r>
                      </m:num>
                      <m:den>
                        <m:r>
                          <a:rPr lang="ru-RU" i="1">
                            <a:latin typeface="Cambria Math" panose="02040503050406030204" pitchFamily="18" charset="0"/>
                          </a:rPr>
                          <m:t>𝑑</m:t>
                        </m:r>
                      </m:den>
                    </m:f>
                  </m:oMath>
                </a14:m>
                <a:r>
                  <a:rPr lang="ru-RU" dirty="0"/>
                  <a:t>, </a:t>
                </a:r>
                <a:endParaRPr lang="en-US" i="1" dirty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ru-RU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u-RU" i="1">
                            <a:latin typeface="Cambria Math" panose="02040503050406030204" pitchFamily="18" charset="0"/>
                          </a:rPr>
                          <m:t>𝜀</m:t>
                        </m:r>
                      </m:e>
                      <m:sub>
                        <m:r>
                          <a:rPr lang="ru-RU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ru-RU" i="1">
                        <a:latin typeface="Cambria Math" panose="02040503050406030204" pitchFamily="18" charset="0"/>
                      </a:rPr>
                      <m:t>=8,85⋅</m:t>
                    </m:r>
                    <m:sSup>
                      <m:sSupPr>
                        <m:ctrlPr>
                          <a:rPr lang="ru-RU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ru-RU" i="1">
                            <a:latin typeface="Cambria Math" panose="02040503050406030204" pitchFamily="18" charset="0"/>
                          </a:rPr>
                          <m:t>10</m:t>
                        </m:r>
                      </m:e>
                      <m:sup>
                        <m:r>
                          <a:rPr lang="ru-RU" i="1">
                            <a:latin typeface="Cambria Math" panose="02040503050406030204" pitchFamily="18" charset="0"/>
                          </a:rPr>
                          <m:t>−12</m:t>
                        </m:r>
                      </m:sup>
                    </m:sSup>
                    <m:r>
                      <a:rPr lang="ru-RU" i="1">
                        <a:latin typeface="Cambria Math" panose="02040503050406030204" pitchFamily="18" charset="0"/>
                      </a:rPr>
                      <m:t> Ф/м</m:t>
                    </m:r>
                  </m:oMath>
                </a14:m>
                <a:r>
                  <a:rPr lang="ru-RU" dirty="0"/>
                  <a:t>, </a:t>
                </a:r>
                <a:endParaRPr lang="en-US" i="1" dirty="0"/>
              </a:p>
              <a:p>
                <a14:m>
                  <m:oMath xmlns:m="http://schemas.openxmlformats.org/officeDocument/2006/math">
                    <m:r>
                      <a:rPr lang="ru-RU" i="1">
                        <a:latin typeface="Cambria Math" panose="02040503050406030204" pitchFamily="18" charset="0"/>
                      </a:rPr>
                      <m:t>𝜀</m:t>
                    </m:r>
                    <m:r>
                      <a:rPr lang="ru-RU" i="1">
                        <a:latin typeface="Cambria Math" panose="02040503050406030204" pitchFamily="18" charset="0"/>
                      </a:rPr>
                      <m:t>=11,67</m:t>
                    </m:r>
                  </m:oMath>
                </a14:m>
                <a:r>
                  <a:rPr lang="en-US" dirty="0"/>
                  <a:t> </a:t>
                </a:r>
                <a:endParaRPr lang="ru-RU" dirty="0"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1C7E0526-1E61-D964-89A9-C7208BC64C1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1887" y="4557551"/>
                <a:ext cx="2677884" cy="1047466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BE232C25-2D5E-4E26-B8C7-5614CD0F940B}"/>
                  </a:ext>
                </a:extLst>
              </p:cNvPr>
              <p:cNvSpPr txBox="1"/>
              <p:nvPr/>
            </p:nvSpPr>
            <p:spPr>
              <a:xfrm>
                <a:off x="438893" y="5801089"/>
                <a:ext cx="2770410" cy="58804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ru-RU" i="1" smtClean="0">
                        <a:latin typeface="Cambria Math" panose="02040503050406030204" pitchFamily="18" charset="0"/>
                      </a:rPr>
                      <m:t>𝜌</m:t>
                    </m:r>
                    <m:d>
                      <m:dPr>
                        <m:ctrlPr>
                          <a:rPr lang="ru-RU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ru-RU">
                            <a:latin typeface="Cambria Math" panose="02040503050406030204" pitchFamily="18" charset="0"/>
                          </a:rPr>
                          <m:t>кОм⋅см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ru-RU" i="1">
                                <a:latin typeface="Cambria Math" panose="02040503050406030204" pitchFamily="18" charset="0"/>
                              </a:rPr>
                              <m:t>𝑑</m:t>
                            </m:r>
                          </m:e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d>
                          <m:dPr>
                            <m:ctrlPr>
                              <a:rPr lang="ru-RU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ru-RU">
                                <a:latin typeface="Cambria Math" panose="02040503050406030204" pitchFamily="18" charset="0"/>
                              </a:rPr>
                              <m:t>мкм</m:t>
                            </m:r>
                          </m:e>
                        </m:d>
                      </m:num>
                      <m:den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ru-RU">
                                <a:latin typeface="Cambria Math" panose="02040503050406030204" pitchFamily="18" charset="0"/>
                              </a:rPr>
                              <m:t>18</m:t>
                            </m:r>
                          </m:e>
                          <m:sup>
                            <m:r>
                              <a:rPr lang="en-US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ru-RU">
                            <a:latin typeface="Cambria Math" panose="02040503050406030204" pitchFamily="18" charset="0"/>
                          </a:rPr>
                          <m:t>⋅</m:t>
                        </m:r>
                        <m:sSub>
                          <m:sSubPr>
                            <m:ctrlPr>
                              <a:rPr lang="ru-RU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ru-RU" i="1">
                                <a:latin typeface="Cambria Math" panose="02040503050406030204" pitchFamily="18" charset="0"/>
                              </a:rPr>
                              <m:t>𝑈</m:t>
                            </m:r>
                          </m:e>
                          <m:sub>
                            <m:r>
                              <a:rPr lang="ru-RU" i="1">
                                <a:latin typeface="Cambria Math" panose="02040503050406030204" pitchFamily="18" charset="0"/>
                              </a:rPr>
                              <m:t>𝑓𝑑</m:t>
                            </m:r>
                          </m:sub>
                        </m:sSub>
                        <m:r>
                          <a:rPr lang="ru-RU">
                            <a:latin typeface="Cambria Math" panose="02040503050406030204" pitchFamily="18" charset="0"/>
                          </a:rPr>
                          <m:t> </m:t>
                        </m:r>
                        <m:d>
                          <m:dPr>
                            <m:ctrlPr>
                              <a:rPr lang="ru-RU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ru-RU">
                                <a:latin typeface="Cambria Math" panose="02040503050406030204" pitchFamily="18" charset="0"/>
                              </a:rPr>
                              <m:t>В</m:t>
                            </m:r>
                          </m:e>
                        </m:d>
                      </m:den>
                    </m:f>
                  </m:oMath>
                </a14:m>
                <a:r>
                  <a:rPr lang="en-US" dirty="0"/>
                  <a:t> </a:t>
                </a:r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BE232C25-2D5E-4E26-B8C7-5614CD0F940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8893" y="5801089"/>
                <a:ext cx="2770410" cy="588046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3" name="Рисунок 8" descr="Изображение выглядит как искусство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53F98A84-CB7D-6071-4BC5-7C69654633A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081" t="14598" r="15717" b="4198"/>
          <a:stretch>
            <a:fillRect/>
          </a:stretch>
        </p:blipFill>
        <p:spPr bwMode="auto">
          <a:xfrm>
            <a:off x="3784515" y="4367932"/>
            <a:ext cx="1385423" cy="18533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" name="Picture 3" descr="Изображение выглядит как кабель, Электрическая проводка, электроника, Электроснабжение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81D365D5-9F45-3DD6-2C2B-089FED0AD08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075" t="12866" r="9947" b="11156"/>
          <a:stretch>
            <a:fillRect/>
          </a:stretch>
        </p:blipFill>
        <p:spPr bwMode="auto">
          <a:xfrm>
            <a:off x="5333146" y="4367932"/>
            <a:ext cx="1385423" cy="18533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" name="Рисунок 9" descr="Изображение выглядит как стена, в помещении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AE3D58AE-EA1A-F85D-615C-C131E007D1A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171" t="28210" r="21219" b="17181"/>
          <a:stretch>
            <a:fillRect/>
          </a:stretch>
        </p:blipFill>
        <p:spPr bwMode="auto">
          <a:xfrm>
            <a:off x="6881777" y="4367932"/>
            <a:ext cx="1385423" cy="18533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" name="Рисунок 7" descr="Изображение выглядит как стена, в помещении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4C1A7077-A9BD-A49D-1B4D-86774E8A607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922" t="13493" r="10411" b="13841"/>
          <a:stretch>
            <a:fillRect/>
          </a:stretch>
        </p:blipFill>
        <p:spPr bwMode="auto">
          <a:xfrm>
            <a:off x="8430408" y="4367932"/>
            <a:ext cx="1385423" cy="18533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1" name="Рисунок 20" descr="Изображение выглядит как Прямоугольник, рамка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08D6D1BE-6BB4-EC93-D7BD-E6A1A2EA3E60}"/>
              </a:ext>
            </a:extLst>
          </p:cNvPr>
          <p:cNvPicPr>
            <a:picLocks noChangeAspect="1"/>
          </p:cNvPicPr>
          <p:nvPr/>
        </p:nvPicPr>
        <p:blipFill rotWithShape="1"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888" t="1645" r="18506" b="1"/>
          <a:stretch>
            <a:fillRect/>
          </a:stretch>
        </p:blipFill>
        <p:spPr bwMode="auto">
          <a:xfrm>
            <a:off x="9979039" y="4389372"/>
            <a:ext cx="1730038" cy="1847919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2C42437B-4EB2-370E-754E-3B640DF0E9C7}"/>
              </a:ext>
            </a:extLst>
          </p:cNvPr>
          <p:cNvSpPr txBox="1"/>
          <p:nvPr/>
        </p:nvSpPr>
        <p:spPr>
          <a:xfrm>
            <a:off x="4088601" y="6221281"/>
            <a:ext cx="77724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800" b="1" dirty="0"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det1</a:t>
            </a:r>
            <a:endParaRPr lang="ru-RU" b="1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BBFF79C6-8B11-4BB5-D26D-D938FBE2DCBF}"/>
              </a:ext>
            </a:extLst>
          </p:cNvPr>
          <p:cNvSpPr txBox="1"/>
          <p:nvPr/>
        </p:nvSpPr>
        <p:spPr>
          <a:xfrm>
            <a:off x="5634300" y="6214516"/>
            <a:ext cx="77724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800" b="1" dirty="0"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det2</a:t>
            </a:r>
            <a:endParaRPr lang="ru-RU" b="1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AF594128-6C6B-3373-699B-BB34BCDEEA22}"/>
              </a:ext>
            </a:extLst>
          </p:cNvPr>
          <p:cNvSpPr txBox="1"/>
          <p:nvPr/>
        </p:nvSpPr>
        <p:spPr>
          <a:xfrm>
            <a:off x="7185863" y="6197257"/>
            <a:ext cx="77724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800" b="1" dirty="0"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det3</a:t>
            </a:r>
            <a:endParaRPr lang="ru-RU" b="1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1D24DD0A-6616-7919-3182-9168B69326F8}"/>
              </a:ext>
            </a:extLst>
          </p:cNvPr>
          <p:cNvSpPr txBox="1"/>
          <p:nvPr/>
        </p:nvSpPr>
        <p:spPr>
          <a:xfrm>
            <a:off x="8512286" y="6214516"/>
            <a:ext cx="122166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800" b="1" dirty="0" err="1"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mydet</a:t>
            </a:r>
            <a:endParaRPr lang="ru-RU" b="1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32D1121D-A67B-6E08-A095-A860D93E9D62}"/>
              </a:ext>
            </a:extLst>
          </p:cNvPr>
          <p:cNvSpPr txBox="1"/>
          <p:nvPr/>
        </p:nvSpPr>
        <p:spPr>
          <a:xfrm>
            <a:off x="10364073" y="6214516"/>
            <a:ext cx="95996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800" b="1" dirty="0"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det4</a:t>
            </a:r>
            <a:endParaRPr lang="ru-RU" b="1" dirty="0"/>
          </a:p>
        </p:txBody>
      </p:sp>
    </p:spTree>
    <p:extLst>
      <p:ext uri="{BB962C8B-B14F-4D97-AF65-F5344CB8AC3E}">
        <p14:creationId xmlns:p14="http://schemas.microsoft.com/office/powerpoint/2010/main" val="419754926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DF1CBEF-6771-061E-2461-5FEC45F0CE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BAAE9F84-E980-FA48-C3DB-354415296C29}"/>
              </a:ext>
            </a:extLst>
          </p:cNvPr>
          <p:cNvSpPr txBox="1"/>
          <p:nvPr/>
        </p:nvSpPr>
        <p:spPr>
          <a:xfrm>
            <a:off x="1983403" y="24910"/>
            <a:ext cx="8276572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</a:pPr>
            <a:r>
              <a:rPr lang="ru-RU" altLang="ru-RU" sz="2000" b="1" dirty="0">
                <a:solidFill>
                  <a:srgbClr val="E5090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Сигнал с детектора №2 при различной ориентации детектора относительно источника альфа-частиц </a:t>
            </a:r>
            <a:r>
              <a:rPr lang="en-US" altLang="ru-RU" sz="2000" b="1" dirty="0">
                <a:solidFill>
                  <a:srgbClr val="E5090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²³⁸Pu</a:t>
            </a:r>
            <a:r>
              <a:rPr lang="ru-RU" altLang="ru-RU" sz="2000" b="1" dirty="0">
                <a:solidFill>
                  <a:srgbClr val="E5090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</p:txBody>
      </p:sp>
      <p:pic>
        <p:nvPicPr>
          <p:cNvPr id="2" name="Рисунок 1" descr="Изображение выглядит как текст, Шрифт, число, Параллельный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960467FD-BB8F-4C8F-EA95-152BB1A5732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9108" y="853983"/>
            <a:ext cx="4101007" cy="5870797"/>
          </a:xfrm>
          <a:prstGeom prst="rect">
            <a:avLst/>
          </a:prstGeom>
        </p:spPr>
      </p:pic>
      <p:pic>
        <p:nvPicPr>
          <p:cNvPr id="4" name="Рисунок 3" descr="Изображение выглядит как текст, Параллельный, число, документ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59A1675B-73B0-7FA6-7021-DBE1AB4025ED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87654" y="853984"/>
            <a:ext cx="4101007" cy="5870797"/>
          </a:xfrm>
          <a:prstGeom prst="rect">
            <a:avLst/>
          </a:prstGeom>
        </p:spPr>
      </p:pic>
      <p:pic>
        <p:nvPicPr>
          <p:cNvPr id="5" name="Рисунок 4" descr="Изображение выглядит как текст, снимок экрана, диаграмма, линия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E0AE6D46-CF35-F86D-8087-5479F19F2E52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50335" y="4192439"/>
            <a:ext cx="2446088" cy="2377052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Picture 3" descr="Изображение выглядит как кабель, Электрическая проводка, электроника, Электроснабжение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4C6C7208-EDA3-9A12-0C1B-43F6516FFAB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075" t="12866" r="9947" b="11156"/>
          <a:stretch>
            <a:fillRect/>
          </a:stretch>
        </p:blipFill>
        <p:spPr bwMode="auto">
          <a:xfrm>
            <a:off x="9263739" y="978197"/>
            <a:ext cx="2219280" cy="29688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5321506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7C37F17-50C4-DFBE-4082-6AB2A5D49E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5188CFBA-5A9C-72A7-B546-16D0A92C7483}"/>
              </a:ext>
            </a:extLst>
          </p:cNvPr>
          <p:cNvSpPr txBox="1"/>
          <p:nvPr/>
        </p:nvSpPr>
        <p:spPr>
          <a:xfrm>
            <a:off x="2204902" y="146470"/>
            <a:ext cx="827657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</a:pPr>
            <a:r>
              <a:rPr lang="ru-RU" altLang="ru-RU" sz="2800" b="1" dirty="0">
                <a:solidFill>
                  <a:srgbClr val="E5090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Измерение спектров </a:t>
            </a:r>
            <a:r>
              <a:rPr lang="en-US" altLang="ru-RU" sz="2800" b="1" dirty="0">
                <a:solidFill>
                  <a:srgbClr val="E5090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²²⁶Ra</a:t>
            </a:r>
            <a:endParaRPr lang="ru-RU" altLang="ru-RU" sz="2800" b="1" dirty="0">
              <a:solidFill>
                <a:srgbClr val="E50909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3" name="Рисунок 2" descr="Изображение выглядит как текст, снимок экрана, Шрифт, линия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FC15BC3C-3B3C-5CB1-A177-39725DE9A827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5012" y="1508002"/>
            <a:ext cx="6935666" cy="1871723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F22F1FC8-AD3B-46C0-F527-58A837B00D3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80718" y="1103451"/>
            <a:ext cx="4433161" cy="5337473"/>
          </a:xfrm>
          <a:prstGeom prst="rect">
            <a:avLst/>
          </a:prstGeom>
        </p:spPr>
      </p:pic>
      <p:pic>
        <p:nvPicPr>
          <p:cNvPr id="11" name="Рисунок 10" descr="Изображение выглядит как текст, снимок экрана, Шрифт, черный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3DF6A2DD-AE0F-8D8A-FE1B-E36777261D6A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8121" y="4218037"/>
            <a:ext cx="5645127" cy="1605353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A1CBBA87-2F35-1933-E7ED-9D6A02AF0EBD}"/>
              </a:ext>
            </a:extLst>
          </p:cNvPr>
          <p:cNvSpPr txBox="1"/>
          <p:nvPr/>
        </p:nvSpPr>
        <p:spPr>
          <a:xfrm>
            <a:off x="378121" y="5863860"/>
            <a:ext cx="609414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https://github.com/EvdokimovVladimir/RadugaMCAtoTXT</a:t>
            </a:r>
            <a:endParaRPr lang="ru-RU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8" name="Рисунок 17" descr="Изображение выглядит как ложка, круг, в помещении, искусство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408EDEBA-3F7D-4B7F-ADFD-16D6B0F85566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803" t="17257" r="18695" b="6924"/>
          <a:stretch>
            <a:fillRect/>
          </a:stretch>
        </p:blipFill>
        <p:spPr>
          <a:xfrm>
            <a:off x="10061631" y="1003089"/>
            <a:ext cx="1885357" cy="14390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304193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18D8BD8-A161-52F6-0831-5F6802A48B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18B691A7-6BE8-69F0-22B1-408DF1C798C2}"/>
              </a:ext>
            </a:extLst>
          </p:cNvPr>
          <p:cNvSpPr txBox="1"/>
          <p:nvPr/>
        </p:nvSpPr>
        <p:spPr>
          <a:xfrm>
            <a:off x="2204902" y="146470"/>
            <a:ext cx="827657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</a:pPr>
            <a:r>
              <a:rPr lang="ru-RU" altLang="ru-RU" sz="2800" b="1" dirty="0">
                <a:solidFill>
                  <a:srgbClr val="E5090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Обработка спектров </a:t>
            </a:r>
            <a:r>
              <a:rPr lang="en-US" altLang="ru-RU" sz="2800" b="1" dirty="0">
                <a:solidFill>
                  <a:srgbClr val="E5090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²²⁶Ra</a:t>
            </a:r>
            <a:endParaRPr lang="ru-RU" altLang="ru-RU" sz="2800" b="1" dirty="0">
              <a:solidFill>
                <a:srgbClr val="E50909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0" name="Рисунок 9" descr="Изображение выглядит как текст, График, линия, число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6B280E48-A4BC-6D0F-D865-BE968D258A27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63026" y="991370"/>
            <a:ext cx="9465947" cy="5720160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Рисунок 9" descr="Изображение выглядит как стена, в помещении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6FCAED71-80B4-6E26-B588-95B2859AF3D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171" t="28210" r="21219" b="17181"/>
          <a:stretch>
            <a:fillRect/>
          </a:stretch>
        </p:blipFill>
        <p:spPr bwMode="auto">
          <a:xfrm>
            <a:off x="4116275" y="2491174"/>
            <a:ext cx="1648906" cy="22058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9607001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9000678-E297-85D2-E701-CD5CD9AB29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4F4D5ACA-1B25-67DA-8B71-E7A8FC8B83DF}"/>
              </a:ext>
            </a:extLst>
          </p:cNvPr>
          <p:cNvSpPr txBox="1"/>
          <p:nvPr/>
        </p:nvSpPr>
        <p:spPr>
          <a:xfrm>
            <a:off x="2204902" y="146470"/>
            <a:ext cx="827657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</a:pPr>
            <a:r>
              <a:rPr lang="ru-RU" altLang="ru-RU" sz="2800" b="1" dirty="0">
                <a:solidFill>
                  <a:srgbClr val="E5090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Зависимость спектров </a:t>
            </a:r>
            <a:r>
              <a:rPr lang="en-US" altLang="ru-RU" sz="2800" b="1" dirty="0">
                <a:solidFill>
                  <a:srgbClr val="E5090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²²⁶Ra</a:t>
            </a:r>
            <a:r>
              <a:rPr lang="ru-RU" altLang="ru-RU" sz="2800" b="1" dirty="0">
                <a:solidFill>
                  <a:srgbClr val="E5090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от напряжения</a:t>
            </a:r>
          </a:p>
        </p:txBody>
      </p:sp>
      <p:pic>
        <p:nvPicPr>
          <p:cNvPr id="4" name="Рисунок 3" descr="Изображение выглядит как текст, снимок экрана, диаграмма, линия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29795528-9760-DD28-08B4-E1F5F30AAFE4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6031" y="5227604"/>
            <a:ext cx="1481821" cy="1440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Рисунок 4" descr="Изображение выглядит как текст, снимок экрана, диаграмма, линия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C8AB7882-B034-4CF4-8630-641B9E1D7ABF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56702" y="5227604"/>
            <a:ext cx="1497139" cy="1440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Рисунок 9" descr="Изображение выглядит как стена, в помещении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0C333ED0-11F6-0352-4BC7-0EB90B621BC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171" t="28210" r="21219" b="17181"/>
          <a:stretch>
            <a:fillRect/>
          </a:stretch>
        </p:blipFill>
        <p:spPr bwMode="auto">
          <a:xfrm rot="16200000">
            <a:off x="5383937" y="5099487"/>
            <a:ext cx="1385423" cy="18533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Рисунок 9" descr="Изображение выглядит как текст, снимок экрана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2FEA60A5-95B2-C90A-66D8-18756021220C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08000" y="1129216"/>
            <a:ext cx="5760000" cy="4091568"/>
          </a:xfrm>
          <a:prstGeom prst="rect">
            <a:avLst/>
          </a:prstGeom>
        </p:spPr>
      </p:pic>
      <p:pic>
        <p:nvPicPr>
          <p:cNvPr id="14" name="Рисунок 13" descr="Изображение выглядит как текст, шаблон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5CF5FA95-6E43-EE62-7E1A-A004D0BB8F55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4000" y="1129216"/>
            <a:ext cx="5760000" cy="40915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898111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A793FAA-4574-A457-6B42-570C65D083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 descr="Изображение выглядит как текст, График, линия, диаграмма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81B77A29-9A67-A543-A999-366363E3271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08000" y="1404000"/>
            <a:ext cx="5760000" cy="4320000"/>
          </a:xfrm>
          <a:prstGeom prst="rect">
            <a:avLst/>
          </a:prstGeom>
        </p:spPr>
      </p:pic>
      <p:pic>
        <p:nvPicPr>
          <p:cNvPr id="12" name="Рисунок 11" descr="Изображение выглядит как текст, График, линия, диаграмма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A451A0EC-1931-7997-E409-9664E9EFC1B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4000" y="1404000"/>
            <a:ext cx="5760000" cy="43200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918B9D7-AF2F-3CCA-45E7-2DB64628F22D}"/>
              </a:ext>
            </a:extLst>
          </p:cNvPr>
          <p:cNvSpPr txBox="1"/>
          <p:nvPr/>
        </p:nvSpPr>
        <p:spPr>
          <a:xfrm>
            <a:off x="2204902" y="146470"/>
            <a:ext cx="827657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</a:pPr>
            <a:r>
              <a:rPr lang="ru-RU" altLang="ru-RU" sz="2800" b="1" dirty="0">
                <a:solidFill>
                  <a:srgbClr val="E5090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Смещение положения спектральных пиков</a:t>
            </a:r>
          </a:p>
        </p:txBody>
      </p:sp>
      <p:pic>
        <p:nvPicPr>
          <p:cNvPr id="4" name="Рисунок 3" descr="Изображение выглядит как текст, снимок экрана, диаграмма, линия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45672302-5CBA-2D68-4B14-9824BCAE32C5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22101" y="3077980"/>
            <a:ext cx="2160000" cy="2099040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Рисунок 4" descr="Изображение выглядит как текст, снимок экрана, диаграмма, линия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882949E0-6106-7E95-4BBA-127A4AEC1F27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16831" y="3088719"/>
            <a:ext cx="2160000" cy="2077562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026229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4A96418-F8C3-19C3-611E-3FDB409D81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3BCAB6A7-9228-3E77-1220-A510700D24A5}"/>
              </a:ext>
            </a:extLst>
          </p:cNvPr>
          <p:cNvSpPr txBox="1"/>
          <p:nvPr/>
        </p:nvSpPr>
        <p:spPr>
          <a:xfrm>
            <a:off x="2204902" y="146470"/>
            <a:ext cx="827657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</a:pPr>
            <a:r>
              <a:rPr lang="ru-RU" altLang="ru-RU" sz="2800" b="1" dirty="0">
                <a:solidFill>
                  <a:srgbClr val="E5090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А если ОК-1 под потенциалом?</a:t>
            </a:r>
          </a:p>
        </p:txBody>
      </p:sp>
      <p:pic>
        <p:nvPicPr>
          <p:cNvPr id="2" name="Рисунок 1" descr="Изображение выглядит как текст, диаграмма, снимок экрана, План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42E7ED4A-E000-D89B-6737-4281C9750A8B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1135" y="1061375"/>
            <a:ext cx="3967533" cy="3108411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Рисунок 2" descr="Изображение выглядит как текст, линия, График, диаграмма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B948079F-628A-9BEE-E433-272EEF6D7FE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39526" y="1154320"/>
            <a:ext cx="7406556" cy="5561776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Рисунок 7" descr="Изображение выглядит как стена, в помещении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B44167F8-69EA-E6E9-A1BB-0698AEDFABC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922" t="13493" r="10411" b="13841"/>
          <a:stretch>
            <a:fillRect/>
          </a:stretch>
        </p:blipFill>
        <p:spPr bwMode="auto">
          <a:xfrm rot="16200000">
            <a:off x="1253832" y="3921127"/>
            <a:ext cx="2272319" cy="30397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0223909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8F592E4-4F3F-D6CC-D2BB-FAA0D6270D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46426822-6B78-7F54-4616-A67CE4CFD276}"/>
              </a:ext>
            </a:extLst>
          </p:cNvPr>
          <p:cNvSpPr txBox="1"/>
          <p:nvPr/>
        </p:nvSpPr>
        <p:spPr>
          <a:xfrm>
            <a:off x="2204902" y="146470"/>
            <a:ext cx="827657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</a:pPr>
            <a:r>
              <a:rPr lang="ru-RU" altLang="ru-RU" sz="2800" b="1" dirty="0">
                <a:solidFill>
                  <a:srgbClr val="E5090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Потери альфа-частиц в воздухе</a:t>
            </a: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1DFEA10F-BB0B-BDB1-4FDC-BE7A156719E0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25951" y="1114845"/>
            <a:ext cx="7654098" cy="5474483"/>
          </a:xfrm>
          <a:prstGeom prst="rect">
            <a:avLst/>
          </a:prstGeom>
        </p:spPr>
      </p:pic>
      <p:pic>
        <p:nvPicPr>
          <p:cNvPr id="8" name="Рисунок 7" descr="Изображение выглядит как текст, в помещении, офисные принадлежности, компьютер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36988AF5-C488-E67B-2F18-D8ACD8449AB7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4224" b="9633"/>
          <a:stretch>
            <a:fillRect/>
          </a:stretch>
        </p:blipFill>
        <p:spPr>
          <a:xfrm>
            <a:off x="411952" y="3013915"/>
            <a:ext cx="3440504" cy="3492983"/>
          </a:xfrm>
          <a:prstGeom prst="rect">
            <a:avLst/>
          </a:prstGeom>
        </p:spPr>
      </p:pic>
      <p:pic>
        <p:nvPicPr>
          <p:cNvPr id="11" name="Рисунок 10" descr="Изображение выглядит как текст, снимок экрана, линия, Шрифт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AF01C9E2-67ED-3CBB-502D-F04B5B7D317A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0664" y="1064900"/>
            <a:ext cx="3440503" cy="18533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959904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DDB9AB6-19C4-F34B-1EB1-8541D76A67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CBC79CCE-FFDD-72CA-FB02-61883A3977FC}"/>
              </a:ext>
            </a:extLst>
          </p:cNvPr>
          <p:cNvSpPr txBox="1"/>
          <p:nvPr/>
        </p:nvSpPr>
        <p:spPr>
          <a:xfrm>
            <a:off x="2160298" y="75411"/>
            <a:ext cx="8276572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</a:pPr>
            <a:r>
              <a:rPr lang="ru-RU" altLang="ru-RU" sz="2000" b="1" dirty="0">
                <a:solidFill>
                  <a:srgbClr val="E5090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Потери альфа-частиц в воздухе,</a:t>
            </a:r>
            <a:br>
              <a:rPr lang="en-US" altLang="ru-RU" sz="2000" b="1" dirty="0">
                <a:solidFill>
                  <a:srgbClr val="E50909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ru-RU" altLang="ru-RU" sz="2000" b="1" dirty="0">
                <a:solidFill>
                  <a:srgbClr val="E5090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сравнение с </a:t>
            </a:r>
            <a:r>
              <a:rPr lang="en-US" altLang="ru-RU" sz="2000" b="1" dirty="0">
                <a:solidFill>
                  <a:srgbClr val="E5090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ASTAR</a:t>
            </a:r>
            <a:endParaRPr lang="ru-RU" altLang="ru-RU" sz="2000" b="1" dirty="0">
              <a:solidFill>
                <a:srgbClr val="E50909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AB62621D-2670-5CED-C50F-4E2CA0C2E09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00485" y="1069483"/>
            <a:ext cx="8177252" cy="4906350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BC2E89F4-D353-69F7-3386-444073BB67E2}"/>
              </a:ext>
            </a:extLst>
          </p:cNvPr>
          <p:cNvSpPr txBox="1"/>
          <p:nvPr/>
        </p:nvSpPr>
        <p:spPr>
          <a:xfrm>
            <a:off x="125452" y="6084624"/>
            <a:ext cx="609414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Stopping Power and Range Tables for Helium Ions</a:t>
            </a:r>
            <a:endParaRPr lang="ru-RU" i="0" dirty="0"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https://dx.doi.org/10.18434/T4NC7P</a:t>
            </a:r>
            <a:endParaRPr lang="ru-RU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13" name="Группа 12">
            <a:extLst>
              <a:ext uri="{FF2B5EF4-FFF2-40B4-BE49-F238E27FC236}">
                <a16:creationId xmlns:a16="http://schemas.microsoft.com/office/drawing/2014/main" id="{0EE61BC9-C052-0DFF-0ED6-0C5BB0F6AE95}"/>
              </a:ext>
            </a:extLst>
          </p:cNvPr>
          <p:cNvGrpSpPr/>
          <p:nvPr/>
        </p:nvGrpSpPr>
        <p:grpSpPr>
          <a:xfrm>
            <a:off x="264900" y="3722649"/>
            <a:ext cx="3523167" cy="2263140"/>
            <a:chOff x="268248" y="1683834"/>
            <a:chExt cx="3795407" cy="2408106"/>
          </a:xfrm>
        </p:grpSpPr>
        <p:pic>
          <p:nvPicPr>
            <p:cNvPr id="12290" name="Picture 2" descr="Graph of output (Data available below)">
              <a:extLst>
                <a:ext uri="{FF2B5EF4-FFF2-40B4-BE49-F238E27FC236}">
                  <a16:creationId xmlns:a16="http://schemas.microsoft.com/office/drawing/2014/main" id="{98BE73C2-E3A6-A058-68BC-61F9E226D3E8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6434" t="11770" r="7179" b="17611"/>
            <a:stretch>
              <a:fillRect/>
            </a:stretch>
          </p:blipFill>
          <p:spPr bwMode="auto">
            <a:xfrm>
              <a:off x="268248" y="1683834"/>
              <a:ext cx="3795407" cy="2397512"/>
            </a:xfrm>
            <a:prstGeom prst="rect">
              <a:avLst/>
            </a:prstGeom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2" name="Прямоугольник 11">
              <a:extLst>
                <a:ext uri="{FF2B5EF4-FFF2-40B4-BE49-F238E27FC236}">
                  <a16:creationId xmlns:a16="http://schemas.microsoft.com/office/drawing/2014/main" id="{57DDC06A-9C2F-67F2-6997-A46FCBBB0C28}"/>
                </a:ext>
              </a:extLst>
            </p:cNvPr>
            <p:cNvSpPr/>
            <p:nvPr/>
          </p:nvSpPr>
          <p:spPr>
            <a:xfrm>
              <a:off x="388620" y="3992880"/>
              <a:ext cx="1546860" cy="9906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</p:spTree>
    <p:extLst>
      <p:ext uri="{BB962C8B-B14F-4D97-AF65-F5344CB8AC3E}">
        <p14:creationId xmlns:p14="http://schemas.microsoft.com/office/powerpoint/2010/main" val="113210228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F1E4113-BE2B-1D65-16F5-65296F164B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9B806103-59BD-7B04-415B-3A39790707F3}"/>
              </a:ext>
            </a:extLst>
          </p:cNvPr>
          <p:cNvSpPr txBox="1"/>
          <p:nvPr/>
        </p:nvSpPr>
        <p:spPr>
          <a:xfrm>
            <a:off x="1835053" y="181331"/>
            <a:ext cx="827657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</a:pPr>
            <a:r>
              <a:rPr lang="en-US" altLang="ru-RU" sz="2800" b="1" dirty="0">
                <a:solidFill>
                  <a:srgbClr val="E5090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Without hope</a:t>
            </a:r>
            <a:r>
              <a:rPr lang="ru-RU" altLang="ru-RU" sz="2800" b="1" dirty="0">
                <a:solidFill>
                  <a:srgbClr val="E5090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r>
              <a:rPr lang="en-US" altLang="ru-RU" sz="2800" b="1" dirty="0">
                <a:solidFill>
                  <a:srgbClr val="E5090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Without witness. Without reward.</a:t>
            </a:r>
            <a:endParaRPr lang="ru-RU" altLang="ru-RU" sz="2800" b="1" dirty="0">
              <a:solidFill>
                <a:srgbClr val="E50909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2D9E782-BF82-77F9-3827-3D825D714793}"/>
              </a:ext>
            </a:extLst>
          </p:cNvPr>
          <p:cNvSpPr txBox="1"/>
          <p:nvPr/>
        </p:nvSpPr>
        <p:spPr>
          <a:xfrm>
            <a:off x="436246" y="6067822"/>
            <a:ext cx="725234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https://github.com/EvdokimovVladimir/JINR_internship_2025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FDFEBBF-B1DF-A623-9C1B-956C7D84A613}"/>
              </a:ext>
            </a:extLst>
          </p:cNvPr>
          <p:cNvSpPr txBox="1"/>
          <p:nvPr/>
        </p:nvSpPr>
        <p:spPr>
          <a:xfrm>
            <a:off x="8006062" y="4922343"/>
            <a:ext cx="4055321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Автор выражает благодарность:</a:t>
            </a:r>
            <a:b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Екатерине Стрелецкой, </a:t>
            </a:r>
            <a:b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Олегу Тарасову, </a:t>
            </a:r>
            <a:b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Юрию Копылову, </a:t>
            </a:r>
            <a:b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Данилу Чемезову и </a:t>
            </a:r>
            <a:b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Анастасии Шереметьевой</a:t>
            </a:r>
          </a:p>
        </p:txBody>
      </p:sp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D3EEB3E0-BE7C-8C6C-B533-CA5B60822B6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8635" y="1161478"/>
            <a:ext cx="7747569" cy="4906344"/>
          </a:xfrm>
          <a:prstGeom prst="rect">
            <a:avLst/>
          </a:prstGeom>
        </p:spPr>
      </p:pic>
      <p:pic>
        <p:nvPicPr>
          <p:cNvPr id="10" name="Picture 72" descr="Be kind : r/doctorwho">
            <a:extLst>
              <a:ext uri="{FF2B5EF4-FFF2-40B4-BE49-F238E27FC236}">
                <a16:creationId xmlns:a16="http://schemas.microsoft.com/office/drawing/2014/main" id="{7F2ED2F0-7BC2-29F9-D2B5-DA882A569D0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64081" y="983059"/>
            <a:ext cx="3939284" cy="39392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4447049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0351A76-44F7-884C-E308-42BFF6312F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1">
            <a:extLst>
              <a:ext uri="{FF2B5EF4-FFF2-40B4-BE49-F238E27FC236}">
                <a16:creationId xmlns:a16="http://schemas.microsoft.com/office/drawing/2014/main" id="{80847F72-A996-4FAF-DEF6-1C24CA9128E8}"/>
              </a:ext>
            </a:extLst>
          </p:cNvPr>
          <p:cNvSpPr txBox="1">
            <a:spLocks/>
          </p:cNvSpPr>
          <p:nvPr/>
        </p:nvSpPr>
        <p:spPr>
          <a:xfrm>
            <a:off x="998240" y="2082489"/>
            <a:ext cx="7732401" cy="2331692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r>
              <a:rPr lang="ru-RU" altLang="ru-RU" sz="2800" b="1" dirty="0">
                <a:solidFill>
                  <a:srgbClr val="E5090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Изучение принципов работы планарных кремниевых детекторов и экспериментальные измерения основных статических и динамических параметров детекторов</a:t>
            </a:r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1D2E18E5-9402-5DF7-A64B-CD04AD73C04E}"/>
              </a:ext>
            </a:extLst>
          </p:cNvPr>
          <p:cNvSpPr/>
          <p:nvPr/>
        </p:nvSpPr>
        <p:spPr>
          <a:xfrm>
            <a:off x="1057235" y="4402951"/>
            <a:ext cx="6465937" cy="221599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Студент:</a:t>
            </a:r>
          </a:p>
          <a:p>
            <a:r>
              <a:rPr lang="ru-RU" b="1" dirty="0">
                <a:latin typeface="Arial" panose="020B0604020202020204" pitchFamily="34" charset="0"/>
                <a:cs typeface="Arial" panose="020B0604020202020204" pitchFamily="34" charset="0"/>
              </a:rPr>
              <a:t>Евдокимов Владимир Владимирович</a:t>
            </a:r>
          </a:p>
          <a:p>
            <a:r>
              <a:rPr lang="ru-RU" sz="1600" dirty="0">
                <a:latin typeface="Arial" panose="020B0604020202020204" pitchFamily="34" charset="0"/>
                <a:cs typeface="Arial" panose="020B0604020202020204" pitchFamily="34" charset="0"/>
              </a:rPr>
              <a:t>Группа Фт-320013</a:t>
            </a:r>
          </a:p>
          <a:p>
            <a:r>
              <a:rPr lang="ru-RU" sz="1600" dirty="0">
                <a:latin typeface="Arial" panose="020B0604020202020204" pitchFamily="34" charset="0"/>
                <a:cs typeface="Arial" panose="020B0604020202020204" pitchFamily="34" charset="0"/>
              </a:rPr>
              <a:t>Направление подготовки: 14.03.02 Ядерные физика и технологии</a:t>
            </a:r>
            <a:br>
              <a:rPr lang="ru-RU" sz="1600" dirty="0"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ru-RU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Руководитель практики от предприятия:</a:t>
            </a:r>
          </a:p>
          <a:p>
            <a:r>
              <a:rPr lang="ru-RU" b="1" dirty="0">
                <a:latin typeface="Arial" panose="020B0604020202020204" pitchFamily="34" charset="0"/>
                <a:cs typeface="Arial" panose="020B0604020202020204" pitchFamily="34" charset="0"/>
              </a:rPr>
              <a:t>Замятин Николай Иванович</a:t>
            </a:r>
            <a:b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ru-RU" sz="1600" dirty="0">
                <a:latin typeface="Arial" panose="020B0604020202020204" pitchFamily="34" charset="0"/>
                <a:cs typeface="Arial" panose="020B0604020202020204" pitchFamily="34" charset="0"/>
              </a:rPr>
              <a:t>к. т. н., начальник сектора НЭОБМН ЛФВЭ</a:t>
            </a:r>
            <a:endParaRPr lang="ru-RU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8268904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Тема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Тема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Тема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2418</TotalTime>
  <Words>409</Words>
  <Application>Microsoft Office PowerPoint</Application>
  <PresentationFormat>Широкоэкранный</PresentationFormat>
  <Paragraphs>96</Paragraphs>
  <Slides>17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17</vt:i4>
      </vt:variant>
    </vt:vector>
  </HeadingPairs>
  <TitlesOfParts>
    <vt:vector size="22" baseType="lpstr">
      <vt:lpstr>Arial</vt:lpstr>
      <vt:lpstr>Calibri</vt:lpstr>
      <vt:lpstr>Calibri Light</vt:lpstr>
      <vt:lpstr>Cambria Math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Design</dc:creator>
  <cp:lastModifiedBy>Евдокимов Владимир Владимирович</cp:lastModifiedBy>
  <cp:revision>145</cp:revision>
  <dcterms:created xsi:type="dcterms:W3CDTF">2019-05-31T06:38:44Z</dcterms:created>
  <dcterms:modified xsi:type="dcterms:W3CDTF">2025-08-28T14:38:39Z</dcterms:modified>
</cp:coreProperties>
</file>